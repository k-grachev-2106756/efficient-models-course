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643" y="86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45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Добрый день. Сегодня разберём статью Apple с ICLR 2025 — Cut Your Losses in Large-Vocabulary Language Models. Авторы: Erik Wijmans, Brody Huval, Alexander Hertzberg, Vladlen Koltun и Philipp Krähenbühl. Метод называется Cut Cross-Entropy, коротко CCE. Код открыт: репозиторий apple/ml-cross-entropy.</a:t>
            </a:r>
          </a:p>
          <a:p>
            <a:r>
              <a:t>Это не новая архитектура и не новый токенизатор. Статья про одну операцию в обучении языковой модели — кросс-энтропию — и про то, как она стала главным потребителем памяти GPU. Дальше будет, почему так вышло, как авторы убирают матрицу логитов из памяти, чем это оплачено по скорости, и какой режим нужен для предобучения.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Тезис умещается в одну формулу, но сначала числа, из-за которых статью стоит читать.</a:t>
            </a:r>
          </a:p>
          <a:p>
            <a:r>
              <a:t>На Gemma 2, два миллиарда параметров, память одного только loss падает с 24 гигабайт до 1 мегабайта. Голова классификатора вместе с градиентом — с 28 гигабайт примерно до одного гигабайта. Это уже почти нижняя граница: столько весят сами градиенты эмбеддингов и классификатора.</a:t>
            </a:r>
          </a:p>
          <a:p>
            <a:r>
              <a:t>На кластере из шестнадцати GPU по 80 гигабайт максимальный батч вырастает от полутора раз у моделей с умеренным словарём до примерно десяти раз у GPT-2 и Gemma 2 2B. Кривые обучения при этом совпадают с точным baseline.</a:t>
            </a:r>
          </a:p>
          <a:p>
            <a:r>
              <a:t>Как это устроено: для loss и градиента нужны логит правильного токена и log-sum-exp по словарю. Оба результата — скаляр на токен. Матрицу «словарь на батч» можно собирать блоками в SRAM и в глобальную память не писать. Та же идея, что у FlashAttention, только для головы, а не для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Последние</a:t>
            </a:r>
            <a:r>
              <a:rPr dirty="0"/>
              <a:t> </a:t>
            </a:r>
            <a:r>
              <a:rPr dirty="0" err="1"/>
              <a:t>годы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</a:t>
            </a:r>
            <a:r>
              <a:rPr dirty="0" err="1"/>
              <a:t>снимали</a:t>
            </a:r>
            <a:r>
              <a:rPr dirty="0"/>
              <a:t> </a:t>
            </a:r>
            <a:r>
              <a:rPr dirty="0" err="1"/>
              <a:t>слой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слоем</a:t>
            </a:r>
            <a:r>
              <a:rPr dirty="0"/>
              <a:t>. Activation checkpointing </a:t>
            </a:r>
            <a:r>
              <a:rPr dirty="0" err="1"/>
              <a:t>перестал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активации</a:t>
            </a:r>
            <a:r>
              <a:rPr dirty="0"/>
              <a:t>. </a:t>
            </a:r>
            <a:r>
              <a:rPr dirty="0" err="1"/>
              <a:t>ZeRO</a:t>
            </a:r>
            <a:r>
              <a:rPr dirty="0"/>
              <a:t> </a:t>
            </a:r>
            <a:r>
              <a:rPr dirty="0" err="1"/>
              <a:t>развязал</a:t>
            </a:r>
            <a:r>
              <a:rPr dirty="0"/>
              <a:t> </a:t>
            </a:r>
            <a:r>
              <a:rPr dirty="0" err="1"/>
              <a:t>число</a:t>
            </a:r>
            <a:r>
              <a:rPr dirty="0"/>
              <a:t> GPU и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, </a:t>
            </a:r>
            <a:r>
              <a:rPr dirty="0" err="1"/>
              <a:t>градиенты</a:t>
            </a:r>
            <a:r>
              <a:rPr dirty="0"/>
              <a:t> и </a:t>
            </a:r>
            <a:r>
              <a:rPr dirty="0" err="1"/>
              <a:t>состояния</a:t>
            </a:r>
            <a:r>
              <a:rPr dirty="0"/>
              <a:t> Adam. </a:t>
            </a:r>
            <a:r>
              <a:rPr dirty="0" err="1"/>
              <a:t>FlashAttention</a:t>
            </a:r>
            <a:r>
              <a:rPr dirty="0"/>
              <a:t> </a:t>
            </a:r>
            <a:r>
              <a:rPr dirty="0" err="1"/>
              <a:t>убрал</a:t>
            </a:r>
            <a:r>
              <a:rPr dirty="0"/>
              <a:t> </a:t>
            </a:r>
            <a:r>
              <a:rPr dirty="0" err="1"/>
              <a:t>квадрат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длине</a:t>
            </a:r>
            <a:r>
              <a:rPr dirty="0"/>
              <a:t> </a:t>
            </a:r>
            <a:r>
              <a:rPr dirty="0" err="1"/>
              <a:t>контекста</a:t>
            </a:r>
            <a:r>
              <a:rPr dirty="0"/>
              <a:t>.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узкое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переехало</a:t>
            </a:r>
            <a:r>
              <a:rPr dirty="0"/>
              <a:t> в </a:t>
            </a:r>
            <a:r>
              <a:rPr dirty="0" err="1"/>
              <a:t>последний</a:t>
            </a:r>
            <a:r>
              <a:rPr dirty="0"/>
              <a:t> </a:t>
            </a:r>
            <a:r>
              <a:rPr dirty="0" err="1"/>
              <a:t>слой</a:t>
            </a:r>
            <a:r>
              <a:rPr dirty="0"/>
              <a:t>.</a:t>
            </a:r>
          </a:p>
          <a:p>
            <a:r>
              <a:rPr dirty="0" err="1"/>
              <a:t>Кросс-энтропия</a:t>
            </a:r>
            <a:r>
              <a:rPr dirty="0"/>
              <a:t> </a:t>
            </a:r>
            <a:r>
              <a:rPr dirty="0" err="1"/>
              <a:t>строит</a:t>
            </a:r>
            <a:r>
              <a:rPr dirty="0"/>
              <a:t> </a:t>
            </a:r>
            <a:r>
              <a:rPr dirty="0" err="1"/>
              <a:t>логит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токена</a:t>
            </a:r>
            <a:r>
              <a:rPr dirty="0"/>
              <a:t> </a:t>
            </a:r>
            <a:r>
              <a:rPr dirty="0" err="1"/>
              <a:t>батча</a:t>
            </a:r>
            <a:r>
              <a:rPr dirty="0"/>
              <a:t> </a:t>
            </a:r>
            <a:r>
              <a:rPr dirty="0" err="1"/>
              <a:t>против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элемента</a:t>
            </a:r>
            <a:r>
              <a:rPr dirty="0"/>
              <a:t> </a:t>
            </a:r>
            <a:r>
              <a:rPr dirty="0" err="1"/>
              <a:t>словаря</a:t>
            </a:r>
            <a:r>
              <a:rPr dirty="0"/>
              <a:t>.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растёт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произведение</a:t>
            </a:r>
            <a:r>
              <a:rPr dirty="0"/>
              <a:t> </a:t>
            </a:r>
            <a:r>
              <a:rPr dirty="0" err="1"/>
              <a:t>длины</a:t>
            </a:r>
            <a:r>
              <a:rPr dirty="0"/>
              <a:t> </a:t>
            </a:r>
            <a:r>
              <a:rPr dirty="0" err="1"/>
              <a:t>батча</a:t>
            </a:r>
            <a:r>
              <a:rPr dirty="0"/>
              <a:t> и </a:t>
            </a:r>
            <a:r>
              <a:rPr dirty="0" err="1"/>
              <a:t>размера</a:t>
            </a:r>
            <a:r>
              <a:rPr dirty="0"/>
              <a:t> </a:t>
            </a:r>
            <a:r>
              <a:rPr dirty="0" err="1"/>
              <a:t>словаря</a:t>
            </a:r>
            <a:r>
              <a:rPr dirty="0"/>
              <a:t>. А </a:t>
            </a:r>
            <a:r>
              <a:rPr dirty="0" err="1"/>
              <a:t>словари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раз</a:t>
            </a:r>
            <a:r>
              <a:rPr dirty="0"/>
              <a:t> </a:t>
            </a:r>
            <a:r>
              <a:rPr dirty="0" err="1"/>
              <a:t>выросли</a:t>
            </a:r>
            <a:r>
              <a:rPr dirty="0"/>
              <a:t>. У Phi 3.5 Mini </a:t>
            </a:r>
            <a:r>
              <a:rPr dirty="0" err="1"/>
              <a:t>словарь</a:t>
            </a:r>
            <a:r>
              <a:rPr dirty="0"/>
              <a:t> 32 </a:t>
            </a:r>
            <a:r>
              <a:rPr dirty="0" err="1"/>
              <a:t>тысячи</a:t>
            </a:r>
            <a:r>
              <a:rPr dirty="0"/>
              <a:t>, и log-probabilities </a:t>
            </a:r>
            <a:r>
              <a:rPr dirty="0" err="1"/>
              <a:t>занимают</a:t>
            </a:r>
            <a:r>
              <a:rPr dirty="0"/>
              <a:t> 40 </a:t>
            </a:r>
            <a:r>
              <a:rPr dirty="0" err="1"/>
              <a:t>процентов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. У Llama 3 8B </a:t>
            </a:r>
            <a:r>
              <a:rPr dirty="0" err="1"/>
              <a:t>словарь</a:t>
            </a:r>
            <a:r>
              <a:rPr dirty="0"/>
              <a:t> 128 </a:t>
            </a:r>
            <a:r>
              <a:rPr dirty="0" err="1"/>
              <a:t>тысяч</a:t>
            </a:r>
            <a:r>
              <a:rPr dirty="0"/>
              <a:t> — </a:t>
            </a:r>
            <a:r>
              <a:rPr dirty="0" err="1"/>
              <a:t>уже</a:t>
            </a:r>
            <a:r>
              <a:rPr dirty="0"/>
              <a:t> 65 </a:t>
            </a:r>
            <a:r>
              <a:rPr dirty="0" err="1"/>
              <a:t>процентов</a:t>
            </a:r>
            <a:r>
              <a:rPr dirty="0"/>
              <a:t>. У Gemma 2 2B </a:t>
            </a:r>
            <a:r>
              <a:rPr dirty="0" err="1"/>
              <a:t>словарь</a:t>
            </a:r>
            <a:r>
              <a:rPr dirty="0"/>
              <a:t> 256 </a:t>
            </a:r>
            <a:r>
              <a:rPr dirty="0" err="1"/>
              <a:t>тысяч</a:t>
            </a:r>
            <a:r>
              <a:rPr dirty="0"/>
              <a:t> — 89 </a:t>
            </a:r>
            <a:r>
              <a:rPr dirty="0" err="1"/>
              <a:t>процентов</a:t>
            </a:r>
            <a:r>
              <a:rPr dirty="0"/>
              <a:t>.</a:t>
            </a:r>
          </a:p>
          <a:p>
            <a:r>
              <a:rPr dirty="0" err="1"/>
              <a:t>Совсем</a:t>
            </a:r>
            <a:r>
              <a:rPr dirty="0"/>
              <a:t> </a:t>
            </a:r>
            <a:r>
              <a:rPr dirty="0" err="1"/>
              <a:t>конкретный</a:t>
            </a:r>
            <a:r>
              <a:rPr dirty="0"/>
              <a:t> </a:t>
            </a:r>
            <a:r>
              <a:rPr dirty="0" err="1"/>
              <a:t>предел</a:t>
            </a:r>
            <a:r>
              <a:rPr dirty="0"/>
              <a:t>: </a:t>
            </a:r>
            <a:r>
              <a:rPr dirty="0" err="1"/>
              <a:t>логиты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последовательности</a:t>
            </a:r>
            <a:r>
              <a:rPr dirty="0"/>
              <a:t> Gemma 2 </a:t>
            </a:r>
            <a:r>
              <a:rPr dirty="0" err="1"/>
              <a:t>длиной</a:t>
            </a:r>
            <a:r>
              <a:rPr dirty="0"/>
              <a:t> 80 </a:t>
            </a:r>
            <a:r>
              <a:rPr dirty="0" err="1"/>
              <a:t>тысяч</a:t>
            </a:r>
            <a:r>
              <a:rPr dirty="0"/>
              <a:t> </a:t>
            </a:r>
            <a:r>
              <a:rPr dirty="0" err="1"/>
              <a:t>токенов</a:t>
            </a:r>
            <a:r>
              <a:rPr dirty="0"/>
              <a:t> </a:t>
            </a:r>
            <a:r>
              <a:rPr dirty="0" err="1"/>
              <a:t>заполняют</a:t>
            </a:r>
            <a:r>
              <a:rPr dirty="0"/>
              <a:t> </a:t>
            </a:r>
            <a:r>
              <a:rPr dirty="0" err="1"/>
              <a:t>весь</a:t>
            </a:r>
            <a:r>
              <a:rPr dirty="0"/>
              <a:t> H100 </a:t>
            </a:r>
            <a:r>
              <a:rPr dirty="0" err="1"/>
              <a:t>на</a:t>
            </a:r>
            <a:r>
              <a:rPr dirty="0"/>
              <a:t> 80 </a:t>
            </a:r>
            <a:r>
              <a:rPr dirty="0" err="1"/>
              <a:t>гигабайт</a:t>
            </a:r>
            <a:r>
              <a:rPr dirty="0"/>
              <a:t>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веса</a:t>
            </a:r>
            <a:r>
              <a:rPr dirty="0"/>
              <a:t>. </a:t>
            </a:r>
            <a:r>
              <a:rPr dirty="0" err="1"/>
              <a:t>Веса</a:t>
            </a:r>
            <a:r>
              <a:rPr dirty="0"/>
              <a:t>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в </a:t>
            </a:r>
            <a:r>
              <a:rPr dirty="0" err="1"/>
              <a:t>карту</a:t>
            </a:r>
            <a:r>
              <a:rPr dirty="0"/>
              <a:t> </a:t>
            </a:r>
            <a:r>
              <a:rPr dirty="0" err="1"/>
              <a:t>влезают</a:t>
            </a:r>
            <a:r>
              <a:rPr dirty="0"/>
              <a:t>.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промежуточная</a:t>
            </a:r>
            <a:r>
              <a:rPr dirty="0"/>
              <a:t> </a:t>
            </a:r>
            <a:r>
              <a:rPr dirty="0" err="1"/>
              <a:t>матрица</a:t>
            </a:r>
            <a:r>
              <a:rPr dirty="0"/>
              <a:t> loss.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teacher forcing: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обучении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позиции</a:t>
            </a:r>
            <a:r>
              <a:rPr dirty="0"/>
              <a:t> </a:t>
            </a:r>
            <a:r>
              <a:rPr dirty="0" err="1"/>
              <a:t>считаются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инференсе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токен</a:t>
            </a:r>
            <a:r>
              <a:rPr dirty="0"/>
              <a:t> </a:t>
            </a:r>
            <a:r>
              <a:rPr dirty="0" err="1"/>
              <a:t>генерируется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одному</a:t>
            </a:r>
            <a:r>
              <a:rPr dirty="0"/>
              <a:t>, </a:t>
            </a: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матрицы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Посчитаем матрицу на микробенчмарке из статьи. Батч — 8192 токена, словарь — 256 тысяч, скрытый размер — 2304. Это голова Gemma 2 2B, снятая по ходу обучения на Alpaca. Карта — A100 80 гигабайт.</a:t>
            </a:r>
          </a:p>
          <a:p>
            <a:r>
              <a:t>Логиты — матрица 256 тысяч на 8192. Одна копия во float32 — около 8 гигабайт. На практике пик гораздо выше: softmax, у Gemma ещё softcap, копии в bf16. Baseline в PyTorch, тот самый, что стоит в Transformers и TorchTune по умолчанию, тратит на loss 24 гигабайта, а на loss вместе с градиентом — 28. Из-за фрагментации одна голова просит восьмидесятигигабайтный GPU.</a:t>
            </a:r>
          </a:p>
          <a:p>
            <a:r>
              <a:t>Нижняя граница для любого метода — память выходных буферов. Для градиента это ∇E и ∇C, 1161 мегабайт. Всё, что сверху, — промежуточные логиты. CCE садится почти вплотную: 1164 мегабайта. Лишних около трёх мегабайт.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Это Figure 1, главный системный рисунок. Слева обычная кросс-энтропия, справа CCE. Каждая точка — модель, год выпуска по вертикали. Круг разложен на три части: зелёное — log-probabilities, серое — чекпойнты активаций, синее — веса, градиенты и Adam. По горизонтали — максимальный батч в миллионах токенов. Сетап: 16 GPU по 80 гигабайт, ZeRO, activation checkpointing, AdamW в bf16 или fp16.</a:t>
            </a:r>
          </a:p>
          <a:p>
            <a:r>
              <a:t>Слева зелень доминирует у моделей с большим словарём, и батч упирается в единицы миллионов токенов. Справа зелёное почти исчезает, ось батча уезжает к 10–20 миллионам, а у GPT-2 шкала доходит до 70. Выигрыш тем больше, чем большую долю памяти занимали логиты. У Llama 2 13B словарь небольшой относительно весов, и батч растёт примерно в полтора раза. У Gemma 2 2B и GPT-2 — на порядок.</a:t>
            </a:r>
          </a:p>
          <a:p>
            <a:r>
              <a:t>В подписи авторы округляют диапазон как от 1.5× до 10×. Точные множители лежат в Table A4, я покажу их отдельным слайдом. Здесь важно увидеть картину: CCE убирает именно зелёную долю.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Запишем loss одной позиции. Вероятность правильного токена — softmax от произведения классификатора C и эмбеддинга E. Минус логарифм этой вероятности раскрывается так.</a:t>
            </a:r>
          </a:p>
          <a:p>
            <a:r>
              <a:t>ℓᵢ равно скалярному произведению столбца C, который соответствует правильной метке, и эмбеддинга Eᵢ, минус логарифм суммы экспонент по всем столбцам словаря.</a:t>
            </a:r>
          </a:p>
          <a:p>
            <a:r>
              <a:t>Первое слагаемое зависит от метки. Это один индекс и одно скалярное произведение размерности D. Второе от метки не зависит. Это log-sum-exp, и он тоже один скаляр.</a:t>
            </a:r>
          </a:p>
          <a:p>
            <a:r>
              <a:t>На выходе у батча два вектора длины N, а не матрица размера словарь на N. Матрица внутри вычисления есть — без неё softmax не определить — но ей не нужно место в HBM. На инференсе проблемы и так нет: распределение нужно для одной позиции. Раздувает память обучение, потому что teacher forcing считает все позиции параллельно.</a:t>
            </a:r>
          </a:p>
          <a:p>
            <a:r>
              <a:t>Цвета дальше будут те же, что в статье. Синий — классификатор C, оранжевый — эмбеддинги E, красный — log-sum-exp.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Реализация — три прохода. Это Figure 2.</a:t>
            </a:r>
          </a:p>
          <a:p>
            <a:r>
              <a:t>Слева indexed matmul, прямой проход первого слагаемого. Ядро читает индекс правильного токена, подгружает нужный столбец C и столбец E в SRAM, делает скалярное произведение по кускам скрытой размерности и пишет один скаляр. Наивная альтернатива — либо материализовать все логиты, память O(N на размер словаря), либо сначала собрать подматрицу классификатора по меткам, память O(N на D). Здесь нет ни того, ни другого.</a:t>
            </a:r>
          </a:p>
          <a:p>
            <a:r>
              <a:t>Посередине forward для log-sum-exp. Нарезка как у нормального матричного умножения: блоки по словарю и по батчу, внутри — накопление по D. Потом log-sum-exp внутри блока и численно устойчивое сложение с уже накопленным LSE этой позиции. Несколько CUDA-блоков пишут в одну ячейку, поэтому обновление идёт под спинлоком. В Triton это просто и почти бесплатно.</a:t>
            </a:r>
          </a:p>
          <a:p>
            <a:r>
              <a:t>Справа backward. Логиты пересчитываются в SRAM заново. Softmax — это экспонента логита минус уже известный LSE, вторую нормировку искать не нужно. Если весь блок softmax ниже порога, градиент по нему пропускается. Иначе атомарно обновляются градиенты E и C.</a:t>
            </a:r>
          </a:p>
          <a:p>
            <a:r>
              <a:t>На практике обратный проход indexed matmul склеен с этим backward: у них общий доступ к памяти.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Скорость backward держится на том, что softmax по большому словарю почти везде ноль. В bf16 мантисса семь бит. Если одно слагаемое меньше другого больше чем в 2⁷ раз, при сложении оно обнуляется. Для вероятностей от нуля до единицы авторы берут порог ε = 2⁻¹². Это самое маленькое значение bf16, которое ещё не отрезается, когда крупное слагаемое порядка 2⁻⁵. В одном столбце таких значимых вероятностей не больше 4096. На моделях из статьи ненулевых элементов меньше 0.02 процента, и с ростом словаря разреженность растёт.</a:t>
            </a:r>
          </a:p>
          <a:p>
            <a:r>
              <a:t>Figure 3 — средняя вероятность токена против его ранга, обе оси логарифмические. Падение почти линейное. Чёрная линия — отсечка bf16. Уже около пятидесятого по вероятности токена кривая уходит под неё. Блок, в котором все значения softmax меньше ε, можно не дифференцировать.</a:t>
            </a:r>
          </a:p>
          <a:p>
            <a:r>
              <a:t>По таблице это 100 миллисекунд на градиент против 314 без фильтра. Полный loss плюс градиент — 145 миллисекунд против 357. Авторы называют это ускорением примерно в три с половиной раза. Точность градиента в пределах численной точности сохраняется.</a:t>
            </a:r>
          </a:p>
          <a:p>
            <a:r>
              <a:t>Фильтр работает на блоках: Triton задаёт ветвление на уровне блока. Если значимые токены размазаны по словарю, полупустой блок всё равно придётся считать. Поэтому на forward атомарно копят средний логит каждого токена, а на backward группируют словарь по этому среднему. Частые токены собираются в плотные блоки, редкие — в пустые, и пустые выкидываются целиком. Буфер порядка размера словаря, около мегабайта даже для Gemma. Без сортировки тот же прогон занимает 159 миллисекунд вместо 145.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Тот же сетап: 8192 токена, словарь 256 тысяч, D = 2304, A100 80 гигабайт, PyTorch 2.4.1, CUDA 12.4, пять сидов. Смотрим loss и градиент вместе.</a:t>
            </a:r>
          </a:p>
          <a:p>
            <a:r>
              <a:t>CCE — 1.16 гигабайта и 145 миллисекунд. Нижняя граница — 1.16 гигабайта, лишнего нет. Liger Kernels — 1.47 гигабайта, но 304 миллисекунды: память близкая, время вдвое хуже. TorchTune восемью чанками — 9.6 гигабайта и 169 миллисекунд. torch.compile — 16 гигабайт и 143 миллисекунды. Это самый быстрый прогон, CCE отстаёт на две миллисекунды. Baseline — 28 гигабайт и 208 миллисекунд.</a:t>
            </a:r>
          </a:p>
          <a:p>
            <a:r>
              <a:t>Две строки абляции. Без фильтра градиента память та же, время 357 миллисекунд. CCE-Kahan-FullC, режим для предобучения, — 2.3 гигабайта и 313 миллисекунд. Ядро медленнее, и на следующем слайде про кривые будет видно, зачем этот режим всё равно нужен.</a:t>
            </a:r>
          </a:p>
          <a:p>
            <a:r>
              <a:t>Отдельно про интерфейс. У CCE прямой и обратный проход разделены. Маску, веса токенов, любую функцию скаляра loss можно оставить в PyTorch. Liger считает loss и градиент одним ядром, и такую трансформацию приходится вшивать внутрь.</a:t>
            </a:r>
          </a:p>
          <a:p>
            <a:r>
              <a:t>По памяти CCE растёт как O(N + |V|). У baseline, torch.compile и чанкового TorchTune — как O(N · |V|). У Liger — как O(N · D). След CCE почти не зависит ни от длины, ни от словаря.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Экономия памяти ничего не стоит, если обучение разъезжается. Здесь дообучение четырёх инструкт-моделей на Alpaca: Gemma 2 2B, Phi 3.5 Mini, Qwen 2.5 7B и Mistral NeMo. Контроль — кросс-энтропия через torch.compile. Пять сидов, на графике среднее и 95-процентный интервал.</a:t>
            </a:r>
          </a:p>
          <a:p>
            <a:r>
              <a:t>Кривые лежат друг на друге. Оранжевая — CCE, синяя — точный baseline. Фильтр градиента на дообучении сходимость не ломает. Это ожидаемо: эмбеддинги токенов уже выучены, и вклад хвоста softmax и так ниже точности bf16.</a:t>
            </a:r>
          </a:p>
          <a:p>
            <a:r>
              <a:t>Для дообучения авторы рекомендуют обычный CCE. Отдельный, более точный и более медленный режим понадобится на предобучении.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предобучении наивный CCE проседает по validation perplexity. Причины две.</a:t>
            </a:r>
          </a:p>
          <a:p>
            <a:r>
              <a:t>Первая — фильтр на градиенте классификатора. Токен, у которого в батче почти нет массы softmax, не получает градиент в свой столбец C. На дообучении это терпимо. На предобучении редкие токены так и остаются без обновления.</a:t>
            </a:r>
          </a:p>
          <a:p>
            <a:r>
              <a:t>Вторая — редукция в глобальной памяти идёт в финальном типе, обычно bf16. На длинном предобучении этой точности не хватает. Лечится суммированием Кахана.</a:t>
            </a:r>
          </a:p>
          <a:p>
            <a:r>
              <a:t>Вместе это вариант CCE-Kahan-FullC: Кahan плюс полный градиент по C. Градиент по эмбеддингам по-прежнему фильтруется. Временные буферы на backward увеличивают память, но обычно они меньше того запаса, который и так нужен, чтобы заново посчитать активации при checkpointing. Системная экономия часто сохраняется.</a:t>
            </a:r>
          </a:p>
          <a:p>
            <a:r>
              <a:t>Проверка: 5 процентов OpenWebText, валидация на непересекающихся 0.25 процента. Figure 5: perplexity совпадает с torch.compile на всех четырёх моделях. На Mistral NeMo больший батч, который этот вариант открывает, сократил обучение на два часа, это 16 процентов, хотя само ядро медленнее torch.compile.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Во сколько раз вырастает максимальный батч, посчитано в Table A4. Учёт такой: 16 карт по 80 гигабайт, минус 5 гигабайт запаса на библиотеки, вычитаем веса с оптимизатором и градиентом, делим остаток на память одного токена.</a:t>
            </a:r>
          </a:p>
          <a:p>
            <a:r>
              <a:t>Слева модели, у которых логиты доминировали. Первая Gemma на 2B — почти 15 раз, GPT-2 — 12, Gemma 2 2B — 9.5. Дальше словарь относительно модели меньше: Qwen 1.5 7B — 3.3 раза, Llama 3 8B — 3. Справа большие модели, где память и так в параметрах: Llama 3 70B — 1.4 раза, Llama 2 13B — 1.3. CCE не уменьшает Adam.</a:t>
            </a:r>
          </a:p>
          <a:p>
            <a:r>
              <a:t>Два следствия рядом с батчем.</a:t>
            </a:r>
          </a:p>
          <a:p>
            <a:r>
              <a:t>В pipeline parallelism стадии хотят похожее отношение памяти к арифметике. Голова сейчас аномалия: памяти много, вычислений относительно мало. CCE делает её обычным слоем, и баланс стадий становится проще. Иногда можно обойтись меньшим числом стадий.</a:t>
            </a:r>
          </a:p>
          <a:p>
            <a:r>
              <a:t>И практический трюк из приложения B. Паддинг, системный промпт и реплика пользователя часто не входят в loss, но логиты для них всё равно считают и потом зануляют. Их можно выкинуть до ядра. С таким фильтром CCE на том же бенчмарке укладывается в 54 миллисекунды вместо 145. Почти все методы ускоряются, вплоть до трёх раз. Liger — нет: он упирается в запуск ядер, а не в арифметику.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Подключение — замена двух строк. Было: умножили эмбеддинги на классификатор, подняли логиты во float32, отдали в cross_entropy. Стало: linear_cross_entropy от эмбеддингов, классификатора и меток. Апкаст не нужен, ядро само считает неустойчивые места в fp32.</a:t>
            </a:r>
          </a:p>
          <a:p>
            <a:r>
              <a:t>Для каузальной модели есть аргумент shift=1. Сдвиг «предсказываем следующий токен» происходит внутри, отдельную матрицу сдвинутых эмбеддингов выделять не надо.</a:t>
            </a:r>
          </a:p>
          <a:p>
            <a:r>
              <a:t>Если модель из Hugging Face, есть cce_patch. Можно передать имя семейства или готовую модель. Поддержаны Llama, Phi3, Mistral и Gemma2. После патча модель не возвращает логиты: на их месте None. Это ожидаемо. Логитов больше нет, есть loss.</a:t>
            </a:r>
          </a:p>
          <a:p>
            <a:r>
              <a:t>Четыре реализации. cce — с неё стоит начать, у неё меньше всего памяти. torch_compile — когда важна скорость, словарь не гигантский относительно D, или нет Triton: на Mac и старых GPU встаёт она. cce_kahan — длинные последовательности и численная устойчивость. cce_kahan_full_c — предобучение.</a:t>
            </a:r>
          </a:p>
          <a:p>
            <a:r>
              <a:t>Тот же интерфейс работает для любого loss вида cross-entropy от X на A транспонированное, включая CLIP. Есть vocab parallel, если классификатор разрезан по словарю, и z-loss по возвращённому log-sum-exp.</a:t>
            </a:r>
          </a:p>
          <a:p>
            <a:r>
              <a:t>Нужны Python 3.9, PyTorch 2.4, Triton 3.0 и GPU поколения Ampere или новее.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Четыре границы, чтобы не ждать от метода лишнего.</a:t>
            </a:r>
          </a:p>
          <a:p>
            <a:r>
              <a:t>Первое. Режим по умолчанию — для дообучения. На предобучении фильтр градиента классификатора глушит редкие токены, а сумма в bf16 теряет точность. Там берётся CCE-Kahan-FullC.</a:t>
            </a:r>
          </a:p>
          <a:p>
            <a:r>
              <a:t>Второе. Это не приближённый softmax и не иерархический словарь. Формула та же. Отбрасываются вклады ниже точности bf16, и только на backward.</a:t>
            </a:r>
          </a:p>
          <a:p>
            <a:r>
              <a:t>Третье. Triton ветвится блоками. Фильтр грубее, чем был бы в CUDA, где решение можно принимать на более мелкой нарезке. Авторы прямо пишут, что CUDA-версия должна быть быстрее.</a:t>
            </a:r>
          </a:p>
          <a:p>
            <a:r>
              <a:t>Четвёртое. Когда словарь маленький относительно скрытого размера, выигрыш по времени тает. У Phi 3.5 Mini, 32 тысячи токенов при D = 3072, ядро CCE примерно на 12 миллисекунд, то есть примерно на 50 процентов, медленнее torch.compile. На полное время шага это плюс один-два процента. Память при этом всё равно меньше: 236 мегабайт против двух гигабайт. И на семидесятимиллиардной модели вы уберёте логиты и упрётесь в оптимизатор. Это уже другая задача.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Три вещи, которые я бы унёс с доклада.</a:t>
            </a:r>
          </a:p>
          <a:p>
            <a:r>
              <a:t>Первое. После checkpointing, ZeRO и FlashAttention память обучения большого словаря сидит в матрице логитов. У Gemma 2 2B это до 89 процентов, и одна длинная последовательность способна занять всю карту.</a:t>
            </a:r>
          </a:p>
          <a:p>
            <a:r>
              <a:t>Второе. Эту матрицу не нужно хранить. Loss — логит правильного токена минус log-sum-exp, оба скаляра считаются в SRAM. На Gemma 2 память loss падает с 24 гигабайт до мегабайта, скорость остаётся на уровне torch.compile.</a:t>
            </a:r>
          </a:p>
          <a:p>
            <a:r>
              <a:t>Третье. Softmax разрежен сильнее, чем кажется. Блоки ниже 2⁻¹² можно не дифференцировать: backward ускоряется примерно втрое, кривые дообучения не двигаются. Для предобучения включаете суммирование Кахана и не фильтруете градиент классификатора — perplexity совпадает с точным baseline, а батч растёт.</a:t>
            </a:r>
          </a:p>
          <a:p>
            <a:r>
              <a:t>Код — замена одной функции. Статья — arXiv 2411.09009, репозиторий apple/ml-cross-entropy. Если будут вопросы по числам: ядро мерили на A100, PyTorch 2.4.1, CUDA 12.4. Сводки — Table 1 и Table A4.</a:t>
            </a:r>
          </a:p>
          <a:p>
            <a:r>
              <a:t>Спасибо,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11.0900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pple/ml-cross-entropy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11.09009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apple/ml-cross-entro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1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54864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E7DFD2"/>
                </a:solidFill>
                <a:latin typeface="Calibri"/>
              </a:rPr>
              <a:t>ICLR 2025  ·  APPLE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34747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E7DFD2"/>
                </a:solidFill>
                <a:latin typeface="Calibri"/>
              </a:rPr>
              <a:t>ARXIV:2411.09009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0972800" cy="77724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5400" b="0" i="0" dirty="0" err="1">
                <a:solidFill>
                  <a:srgbClr val="FFFFFF"/>
                </a:solidFill>
                <a:latin typeface="Georgia"/>
              </a:rPr>
              <a:t>Cut</a:t>
            </a:r>
            <a:r>
              <a:rPr lang="ru-RU" sz="5400" b="0" i="0" dirty="0">
                <a:solidFill>
                  <a:srgbClr val="FFFFFF"/>
                </a:solidFill>
                <a:latin typeface="Georgia"/>
              </a:rPr>
              <a:t> </a:t>
            </a:r>
            <a:r>
              <a:rPr lang="ru-RU" sz="5400" b="0" i="0" dirty="0" err="1">
                <a:solidFill>
                  <a:srgbClr val="FFFFFF"/>
                </a:solidFill>
                <a:latin typeface="Georgia"/>
              </a:rPr>
              <a:t>your</a:t>
            </a:r>
            <a:r>
              <a:rPr lang="ru-RU" sz="5400" b="0" i="0" dirty="0">
                <a:solidFill>
                  <a:srgbClr val="FFFFFF"/>
                </a:solidFill>
                <a:latin typeface="Georgia"/>
              </a:rPr>
              <a:t> </a:t>
            </a:r>
            <a:r>
              <a:rPr lang="ru-RU" sz="5400" b="0" i="0" dirty="0" err="1">
                <a:solidFill>
                  <a:srgbClr val="FFFFFF"/>
                </a:solidFill>
                <a:latin typeface="Georgia"/>
              </a:rPr>
              <a:t>losses</a:t>
            </a:r>
            <a:endParaRPr lang="ru-RU" sz="5400" b="0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600" b="0" i="1" dirty="0">
                <a:solidFill>
                  <a:srgbClr val="F0C27A"/>
                </a:solidFill>
                <a:latin typeface="Georgia"/>
              </a:rPr>
              <a:t>в моделях с большим словарём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95728"/>
            <a:ext cx="1554480" cy="4114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57400" y="2395728"/>
            <a:ext cx="502920" cy="41148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0" y="2395728"/>
            <a:ext cx="365760" cy="411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10515600" cy="6400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 dirty="0" err="1">
                <a:solidFill>
                  <a:srgbClr val="E7DFD2"/>
                </a:solidFill>
                <a:latin typeface="Calibri"/>
              </a:rPr>
              <a:t>Cut</a:t>
            </a:r>
            <a:r>
              <a:rPr lang="ru-RU" sz="1800" b="0" i="0" dirty="0">
                <a:solidFill>
                  <a:srgbClr val="E7DFD2"/>
                </a:solidFill>
                <a:latin typeface="Calibri"/>
              </a:rPr>
              <a:t> Cross-</a:t>
            </a:r>
            <a:r>
              <a:rPr lang="ru-RU" sz="1800" b="0" i="0" dirty="0" err="1">
                <a:solidFill>
                  <a:srgbClr val="E7DFD2"/>
                </a:solidFill>
                <a:latin typeface="Calibri"/>
              </a:rPr>
              <a:t>Entropy</a:t>
            </a:r>
            <a:r>
              <a:rPr lang="ru-RU" sz="1800" b="0" i="0" dirty="0">
                <a:solidFill>
                  <a:srgbClr val="E7DFD2"/>
                </a:solidFill>
                <a:latin typeface="Calibri"/>
              </a:rPr>
              <a:t> считает кросс-энтропию, не записывая матрицу </a:t>
            </a:r>
            <a:r>
              <a:rPr lang="ru-RU" sz="1800" b="0" i="0" dirty="0" err="1">
                <a:solidFill>
                  <a:srgbClr val="E7DFD2"/>
                </a:solidFill>
                <a:latin typeface="Calibri"/>
              </a:rPr>
              <a:t>логитов</a:t>
            </a:r>
            <a:r>
              <a:rPr lang="ru-RU" sz="1800" b="0" i="0" dirty="0">
                <a:solidFill>
                  <a:srgbClr val="E7DFD2"/>
                </a:solidFill>
                <a:latin typeface="Calibri"/>
              </a:rPr>
              <a:t> в память GPU.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83280"/>
            <a:ext cx="3566160" cy="13716"/>
          </a:xfrm>
          <a:prstGeom prst="rect">
            <a:avLst/>
          </a:prstGeom>
          <a:solidFill>
            <a:srgbClr val="5A5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493008"/>
            <a:ext cx="356616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F0C27A"/>
                </a:solidFill>
                <a:latin typeface="Calibri"/>
              </a:rPr>
              <a:t>ПРОБЛЕМА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85615"/>
            <a:ext cx="3566160" cy="12344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E7DFD2"/>
                </a:solidFill>
                <a:latin typeface="Calibri"/>
              </a:rPr>
              <a:t>При обучении модель оценивает каждый токен </a:t>
            </a:r>
            <a:r>
              <a:rPr lang="ru-RU" sz="1400" b="0" i="0" dirty="0" err="1">
                <a:solidFill>
                  <a:srgbClr val="E7DFD2"/>
                </a:solidFill>
                <a:latin typeface="Calibri"/>
              </a:rPr>
              <a:t>батча</a:t>
            </a:r>
            <a:r>
              <a:rPr lang="ru-RU" sz="1400" b="0" i="0" dirty="0">
                <a:solidFill>
                  <a:srgbClr val="E7DFD2"/>
                </a:solidFill>
                <a:latin typeface="Calibri"/>
              </a:rPr>
              <a:t> против каждого слова словаря. Эта матрица стала главной статьёй расхода памяти.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383280"/>
            <a:ext cx="3566160" cy="13716"/>
          </a:xfrm>
          <a:prstGeom prst="rect">
            <a:avLst/>
          </a:prstGeom>
          <a:solidFill>
            <a:srgbClr val="5A5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3493008"/>
            <a:ext cx="356616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F0C27A"/>
                </a:solidFill>
                <a:latin typeface="Calibri"/>
              </a:rPr>
              <a:t>ИДЕЯ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85615"/>
            <a:ext cx="3566160" cy="12344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E7DFD2"/>
                </a:solidFill>
                <a:latin typeface="Calibri"/>
              </a:rPr>
              <a:t>Для </a:t>
            </a:r>
            <a:r>
              <a:rPr lang="ru-RU" sz="1400" b="0" i="0" dirty="0" err="1">
                <a:solidFill>
                  <a:srgbClr val="E7DFD2"/>
                </a:solidFill>
                <a:latin typeface="Calibri"/>
              </a:rPr>
              <a:t>loss</a:t>
            </a:r>
            <a:r>
              <a:rPr lang="ru-RU" sz="1400" b="0" i="0" dirty="0">
                <a:solidFill>
                  <a:srgbClr val="E7DFD2"/>
                </a:solidFill>
                <a:latin typeface="Calibri"/>
              </a:rPr>
              <a:t> нужны два числа на токен, не вся матрица. Её считают кусками в быстрой памяти чипа и наружу не записывают.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3383280"/>
            <a:ext cx="3566160" cy="13716"/>
          </a:xfrm>
          <a:prstGeom prst="rect">
            <a:avLst/>
          </a:prstGeom>
          <a:solidFill>
            <a:srgbClr val="5A5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92440" y="3493008"/>
            <a:ext cx="356616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F0C27A"/>
                </a:solidFill>
                <a:latin typeface="Calibri"/>
              </a:rPr>
              <a:t>ИТОГ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785615"/>
            <a:ext cx="3566160" cy="12344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E7DFD2"/>
                </a:solidFill>
                <a:latin typeface="Calibri"/>
              </a:rPr>
              <a:t>На </a:t>
            </a:r>
            <a:r>
              <a:rPr lang="ru-RU" sz="1400" b="0" i="0" dirty="0" err="1">
                <a:solidFill>
                  <a:srgbClr val="E7DFD2"/>
                </a:solidFill>
                <a:latin typeface="Calibri"/>
              </a:rPr>
              <a:t>Gemma</a:t>
            </a:r>
            <a:r>
              <a:rPr lang="ru-RU" sz="1400" b="0" i="0" dirty="0">
                <a:solidFill>
                  <a:srgbClr val="E7DFD2"/>
                </a:solidFill>
                <a:latin typeface="Calibri"/>
              </a:rPr>
              <a:t> 2 память </a:t>
            </a:r>
            <a:r>
              <a:rPr lang="ru-RU" sz="1400" b="0" i="0" dirty="0" err="1">
                <a:solidFill>
                  <a:srgbClr val="E7DFD2"/>
                </a:solidFill>
                <a:latin typeface="Calibri"/>
              </a:rPr>
              <a:t>loss</a:t>
            </a:r>
            <a:r>
              <a:rPr lang="ru-RU" sz="1400" b="0" i="0" dirty="0">
                <a:solidFill>
                  <a:srgbClr val="E7DFD2"/>
                </a:solidFill>
                <a:latin typeface="Calibri"/>
              </a:rPr>
              <a:t> падает с 24 ГБ до 1 МБ. Скорость и качество обучения при этом сохраняются.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6583680" cy="6400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1400" b="1" i="0" dirty="0" err="1">
                <a:solidFill>
                  <a:srgbClr val="FFFFFF"/>
                </a:solidFill>
                <a:latin typeface="Calibri"/>
              </a:rPr>
              <a:t>Erik</a:t>
            </a:r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ru-RU" sz="1400" b="1" i="0" dirty="0" err="1">
                <a:solidFill>
                  <a:srgbClr val="FFFFFF"/>
                </a:solidFill>
                <a:latin typeface="Calibri"/>
              </a:rPr>
              <a:t>Wijmans</a:t>
            </a:r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lang="ru-RU" sz="1400" b="1" i="0" dirty="0" err="1">
                <a:solidFill>
                  <a:srgbClr val="FFFFFF"/>
                </a:solidFill>
                <a:latin typeface="Calibri"/>
              </a:rPr>
              <a:t>Brody</a:t>
            </a:r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ru-RU" sz="1400" b="1" i="0" dirty="0" err="1">
                <a:solidFill>
                  <a:srgbClr val="FFFFFF"/>
                </a:solidFill>
                <a:latin typeface="Calibri"/>
              </a:rPr>
              <a:t>Huval</a:t>
            </a:r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 · Alexander </a:t>
            </a:r>
            <a:r>
              <a:rPr lang="ru-RU" sz="1400" b="1" i="0" dirty="0" err="1">
                <a:solidFill>
                  <a:srgbClr val="FFFFFF"/>
                </a:solidFill>
                <a:latin typeface="Calibri"/>
              </a:rPr>
              <a:t>Hertzberg</a:t>
            </a:r>
            <a:endParaRPr lang="ru-RU" sz="14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 err="1">
                <a:solidFill>
                  <a:srgbClr val="E7DFD2"/>
                </a:solidFill>
                <a:latin typeface="Calibri"/>
              </a:rPr>
              <a:t>Vladlen</a:t>
            </a:r>
            <a:r>
              <a:rPr lang="ru-RU" sz="1400" b="0" i="0" dirty="0">
                <a:solidFill>
                  <a:srgbClr val="E7DFD2"/>
                </a:solidFill>
                <a:latin typeface="Calibri"/>
              </a:rPr>
              <a:t> </a:t>
            </a:r>
            <a:r>
              <a:rPr lang="ru-RU" sz="1400" b="0" i="0" dirty="0" err="1">
                <a:solidFill>
                  <a:srgbClr val="E7DFD2"/>
                </a:solidFill>
                <a:latin typeface="Calibri"/>
              </a:rPr>
              <a:t>Koltun</a:t>
            </a:r>
            <a:r>
              <a:rPr lang="ru-RU" sz="1400" b="0" i="0" dirty="0">
                <a:solidFill>
                  <a:srgbClr val="E7DFD2"/>
                </a:solidFill>
                <a:latin typeface="Calibri"/>
              </a:rPr>
              <a:t> · </a:t>
            </a:r>
            <a:r>
              <a:rPr lang="ru-RU" sz="1400" b="0" i="0" dirty="0" err="1">
                <a:solidFill>
                  <a:srgbClr val="E7DFD2"/>
                </a:solidFill>
                <a:latin typeface="Calibri"/>
              </a:rPr>
              <a:t>Philipp</a:t>
            </a:r>
            <a:r>
              <a:rPr lang="ru-RU" sz="1400" b="0" i="0" dirty="0">
                <a:solidFill>
                  <a:srgbClr val="E7DFD2"/>
                </a:solidFill>
                <a:latin typeface="Calibri"/>
              </a:rPr>
              <a:t> </a:t>
            </a:r>
            <a:r>
              <a:rPr lang="ru-RU" sz="1400" b="0" i="0" dirty="0" err="1">
                <a:solidFill>
                  <a:srgbClr val="E7DFD2"/>
                </a:solidFill>
                <a:latin typeface="Calibri"/>
              </a:rPr>
              <a:t>Krähenbühl</a:t>
            </a:r>
            <a:endParaRPr lang="ru-RU" sz="1400" b="0" i="0" dirty="0">
              <a:solidFill>
                <a:srgbClr val="E7DFD2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49440" y="5806440"/>
            <a:ext cx="4709160" cy="6400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ru-RU" sz="1400" b="0" i="0">
                <a:solidFill>
                  <a:srgbClr val="F0C27A"/>
                </a:solidFill>
                <a:latin typeface="Calibri"/>
                <a:hlinkClick r:id="rId3"/>
              </a:rPr>
              <a:t>arxiv.org/abs/2411.09009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F0C27A"/>
                </a:solidFill>
                <a:latin typeface="Calibri"/>
                <a:hlinkClick r:id="rId4"/>
              </a:rPr>
              <a:t>github.com/apple/ml-cross-entropy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B7AEA2"/>
                </a:solidFill>
                <a:latin typeface="Calibri"/>
              </a:rPr>
              <a:t>01  / 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ТЕЗИС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Достаточно логита и log-sum-exp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02  /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24128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097280"/>
            <a:ext cx="347472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Память loss · Gemma 2 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335024"/>
            <a:ext cx="347472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strike="sngStrike">
                <a:solidFill>
                  <a:srgbClr val="8A8276"/>
                </a:solidFill>
                <a:latin typeface="Georgia"/>
              </a:rPr>
              <a:t>24 ГБ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536192"/>
            <a:ext cx="3474720" cy="5029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3200" b="0" i="0">
                <a:solidFill>
                  <a:srgbClr val="1A6B4A"/>
                </a:solidFill>
                <a:latin typeface="Georgia"/>
              </a:rPr>
              <a:t>1 МБ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084831"/>
            <a:ext cx="347472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1C1915"/>
                </a:solidFill>
                <a:latin typeface="Calibri"/>
              </a:rPr>
              <a:t>8192 токена, словарь 256 тысяч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1024128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2544" y="1097280"/>
            <a:ext cx="347472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Голова вместе с градиентом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1335024"/>
            <a:ext cx="347472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strike="sngStrike">
                <a:solidFill>
                  <a:srgbClr val="8A8276"/>
                </a:solidFill>
                <a:latin typeface="Georgia"/>
              </a:rPr>
              <a:t>28 ГБ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1536192"/>
            <a:ext cx="3474720" cy="5029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3200" b="0" i="0">
                <a:solidFill>
                  <a:srgbClr val="1A6B4A"/>
                </a:solidFill>
                <a:latin typeface="Georgia"/>
              </a:rPr>
              <a:t>1 ГБ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2084831"/>
            <a:ext cx="347472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1C1915"/>
                </a:solidFill>
                <a:latin typeface="Calibri"/>
              </a:rPr>
              <a:t>это уже нижняя граница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024128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1" y="1097280"/>
            <a:ext cx="347472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Максимальный батч, 16×80 ГБ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1" y="1335024"/>
            <a:ext cx="347472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strike="sngStrike">
                <a:solidFill>
                  <a:srgbClr val="8A8276"/>
                </a:solidFill>
                <a:latin typeface="Georgia"/>
              </a:rPr>
              <a:t>как было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1" y="1536192"/>
            <a:ext cx="3474720" cy="50292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3200" b="0" i="0">
                <a:solidFill>
                  <a:srgbClr val="1A6B4A"/>
                </a:solidFill>
                <a:latin typeface="Georgia"/>
              </a:rPr>
              <a:t>×10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1" y="2084831"/>
            <a:ext cx="347472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1C1915"/>
                </a:solidFill>
                <a:latin typeface="Calibri"/>
              </a:rPr>
              <a:t>на моделях с огромным словарём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2615184"/>
            <a:ext cx="370332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1C1915"/>
                </a:solidFill>
                <a:latin typeface="Georgia"/>
              </a:rPr>
              <a:t>Куда делись 24 ГБ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2926080"/>
            <a:ext cx="3703320" cy="13716"/>
          </a:xfrm>
          <a:prstGeom prst="rect">
            <a:avLst/>
          </a:prstGeom>
          <a:solidFill>
            <a:srgbClr val="DD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2999232"/>
            <a:ext cx="3703320" cy="23317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Обычный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loss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умножает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эмбеддинг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каждой позиции на весь словарь и записывает результат. Для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Gemma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2 это матрица 256 тысяч на 8192 токена.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За шаг таких копий несколько: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softmax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,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softcap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Gemma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, дубль в bf16. Пик поэтому 24 ГБ, а не 8. CCE отдаёт два числа на токен и эти копии не создаёт.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2816" y="2615184"/>
            <a:ext cx="370332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Почему не ноль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42816" y="2926080"/>
            <a:ext cx="3703320" cy="13716"/>
          </a:xfrm>
          <a:prstGeom prst="rect">
            <a:avLst/>
          </a:prstGeom>
          <a:solidFill>
            <a:srgbClr val="DD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42816" y="2999232"/>
            <a:ext cx="3703320" cy="23317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Градиенты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эмбеддингов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и классификатора всё равно нужно хранить: без них шаг обучения не из чего собрать. Вместе они весят около 1 ГБ.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CCE тратит ровно столько и перестаёт держать промежуточный счёт. Зелёная полоска на графиках дальше — эта граница.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3" y="2615184"/>
            <a:ext cx="370332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Куда уходит память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01583" y="2926080"/>
            <a:ext cx="3703320" cy="13716"/>
          </a:xfrm>
          <a:prstGeom prst="rect">
            <a:avLst/>
          </a:prstGeom>
          <a:solidFill>
            <a:srgbClr val="DD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01583" y="2999232"/>
            <a:ext cx="3703320" cy="23317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Свободные гигабайты отдают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батчу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.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Gemma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2 и GPT-2 на 16 картах по 80 ГБ берут примерно в 10 раз больше токенов. У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Llama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70B выигрыш ближе к ×1.4: там карту занимают веса и Adam.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Скорость и качество держатся: кривые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дообучения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совпадают с точным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loss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. Точные множители — от ×1.3 до ×15.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5886196"/>
            <a:ext cx="11430000" cy="514604"/>
          </a:xfrm>
          <a:prstGeom prst="roundRect">
            <a:avLst>
              <a:gd name="adj" fmla="val 8000"/>
            </a:avLst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84048" y="5886196"/>
            <a:ext cx="45719" cy="514604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5929920"/>
            <a:ext cx="11173968" cy="427155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Три числа, с которых стоит начать: </a:t>
            </a:r>
            <a:r>
              <a:rPr lang="ru-RU" sz="1300" b="0" i="0" dirty="0" err="1">
                <a:solidFill>
                  <a:srgbClr val="1C1915"/>
                </a:solidFill>
                <a:latin typeface="Calibri"/>
              </a:rPr>
              <a:t>loss</a:t>
            </a: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 с 24 ГБ до 1 МБ, голова с градиентом до 1 ГБ, </a:t>
            </a:r>
            <a:r>
              <a:rPr lang="ru-RU" sz="1300" b="0" i="0" dirty="0" err="1">
                <a:solidFill>
                  <a:srgbClr val="1C1915"/>
                </a:solidFill>
                <a:latin typeface="Calibri"/>
              </a:rPr>
              <a:t>батч</a:t>
            </a: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 до ×10. Дальше — откуда берётся матрица и как её считать, не записывая на карту.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ОТКУДА ВЗЯЛАСЬ 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Память уехала в последний слой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03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2761488" cy="15544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" y="1188720"/>
            <a:ext cx="2542032" cy="21945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8A8276"/>
                </a:solidFill>
                <a:latin typeface="Calibri"/>
              </a:rPr>
              <a:t>2016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408176"/>
            <a:ext cx="2542032" cy="329184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Checkpointing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1792224"/>
            <a:ext cx="2542032" cy="7772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Промежуточные активации не хранят, а пересчитывают. Сеть может быть глубже.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115568"/>
            <a:ext cx="2761488" cy="15544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1568" y="1188720"/>
            <a:ext cx="2542032" cy="21945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8A8276"/>
                </a:solidFill>
                <a:latin typeface="Calibri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408176"/>
            <a:ext cx="2542032" cy="329184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ZeRO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1792224"/>
            <a:ext cx="2542032" cy="7772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Веса, градиенты и состояния Adam делятся между картами, а не лежат на каждой целиком.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115568"/>
            <a:ext cx="2761488" cy="15544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188720"/>
            <a:ext cx="2542032" cy="21945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8A8276"/>
                </a:solidFill>
                <a:latin typeface="Calibri"/>
              </a:rPr>
              <a:t>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408176"/>
            <a:ext cx="2542032" cy="329184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FlashAttention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792224"/>
            <a:ext cx="2542032" cy="7772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Большую матрицу внимания считают кусками в SRAM и не пишут в память карты.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07424" y="1115568"/>
            <a:ext cx="2761488" cy="155448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17152" y="1188720"/>
            <a:ext cx="2542032" cy="21945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C0392B"/>
                </a:solidFill>
                <a:latin typeface="Calibri"/>
              </a:rPr>
              <a:t>сейчас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1408176"/>
            <a:ext cx="2542032" cy="329184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Кросс-энтропия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1792224"/>
            <a:ext cx="2542032" cy="7772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Осталась матрица «токены × словарь». Чем больше словарь, тем она тяжелее.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880360"/>
            <a:ext cx="11430000" cy="585216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2935224"/>
            <a:ext cx="210312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500" b="1" i="0">
                <a:solidFill>
                  <a:srgbClr val="1C1915"/>
                </a:solidFill>
                <a:latin typeface="Calibri"/>
              </a:rPr>
              <a:t>Phi 3.5 Mini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3172968"/>
            <a:ext cx="2103120" cy="21945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|V| = 32 064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3081528"/>
            <a:ext cx="6949440" cy="201168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880360" y="3081528"/>
            <a:ext cx="277977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66960" y="2990088"/>
            <a:ext cx="164592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2200" b="0" i="0">
                <a:solidFill>
                  <a:srgbClr val="1C1915"/>
                </a:solidFill>
                <a:latin typeface="Georgia"/>
              </a:rPr>
              <a:t>40%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3538728"/>
            <a:ext cx="11430000" cy="585216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3593592"/>
            <a:ext cx="210312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500" b="1" i="0">
                <a:solidFill>
                  <a:srgbClr val="1C1915"/>
                </a:solidFill>
                <a:latin typeface="Calibri"/>
              </a:rPr>
              <a:t>Llama 3 8B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3831336"/>
            <a:ext cx="2103120" cy="21945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|V| = 128 000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3739896"/>
            <a:ext cx="6949440" cy="201168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880360" y="3739896"/>
            <a:ext cx="45171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66960" y="3648456"/>
            <a:ext cx="164592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2200" b="0" i="0">
                <a:solidFill>
                  <a:srgbClr val="1C1915"/>
                </a:solidFill>
                <a:latin typeface="Georgia"/>
              </a:rPr>
              <a:t>65%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4197096"/>
            <a:ext cx="11430000" cy="585216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4251959"/>
            <a:ext cx="210312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500" b="1" i="0">
                <a:solidFill>
                  <a:srgbClr val="1C1915"/>
                </a:solidFill>
                <a:latin typeface="Calibri"/>
              </a:rPr>
              <a:t>Gemma 2 2B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4489704"/>
            <a:ext cx="2103120" cy="21945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|V| = 256 128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80360" y="4398264"/>
            <a:ext cx="6949440" cy="201168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880360" y="4398264"/>
            <a:ext cx="6185001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66960" y="4306824"/>
            <a:ext cx="1645920" cy="3657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2200" b="0" i="0">
                <a:solidFill>
                  <a:srgbClr val="1C1915"/>
                </a:solidFill>
                <a:latin typeface="Georgia"/>
              </a:rPr>
              <a:t>89%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" y="5614416"/>
            <a:ext cx="11430000" cy="740664"/>
          </a:xfrm>
          <a:prstGeom prst="roundRect">
            <a:avLst>
              <a:gd name="adj" fmla="val 8000"/>
            </a:avLst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84048" y="5614416"/>
            <a:ext cx="54864" cy="740664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0352" y="5669280"/>
            <a:ext cx="11173968" cy="64922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Полоски — доля памяти обучения, которую занимают вероятности по словарю. У </a:t>
            </a:r>
            <a:r>
              <a:rPr lang="ru-RU" sz="1300" b="0" i="0" dirty="0" err="1">
                <a:solidFill>
                  <a:srgbClr val="1C1915"/>
                </a:solidFill>
                <a:latin typeface="Calibri"/>
              </a:rPr>
              <a:t>Gemma</a:t>
            </a: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 2 со словарём 256k это уже 89%. Одна последовательность на 80 тысяч токенов заполняет весь H100 одними </a:t>
            </a:r>
            <a:r>
              <a:rPr lang="ru-RU" sz="1300" b="0" i="0" dirty="0" err="1">
                <a:solidFill>
                  <a:srgbClr val="1C1915"/>
                </a:solidFill>
                <a:latin typeface="Calibri"/>
              </a:rPr>
              <a:t>логитами</a:t>
            </a: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. На генерации такого нет: там нужен один следующий токен. На обучении все позиции считаются сразу.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АРИФМЕТИКА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Матрица, которая съедает карту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04  /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51560"/>
            <a:ext cx="5526895" cy="4781006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234440"/>
            <a:ext cx="2148840" cy="868680"/>
          </a:xfrm>
          <a:prstGeom prst="roundRect">
            <a:avLst>
              <a:gd name="adj" fmla="val 10000"/>
            </a:avLst>
          </a:prstGeom>
          <a:solidFill>
            <a:srgbClr val="FDE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1280160"/>
            <a:ext cx="1920240" cy="7772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2000" b="1" i="0" dirty="0">
                <a:solidFill>
                  <a:srgbClr val="1C1915"/>
                </a:solidFill>
                <a:latin typeface="Georgia"/>
              </a:rPr>
              <a:t>E - </a:t>
            </a:r>
            <a:r>
              <a:rPr lang="ru-RU" sz="1300" b="0" i="0" dirty="0" err="1">
                <a:solidFill>
                  <a:srgbClr val="1C1915"/>
                </a:solidFill>
                <a:latin typeface="Calibri"/>
              </a:rPr>
              <a:t>эмбеддинги</a:t>
            </a:r>
            <a:endParaRPr lang="ru-RU" sz="1300" b="0" i="0" dirty="0">
              <a:solidFill>
                <a:srgbClr val="1C1915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2304 × 8192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234440"/>
            <a:ext cx="2834640" cy="868680"/>
          </a:xfrm>
          <a:prstGeom prst="roundRect">
            <a:avLst>
              <a:gd name="adj" fmla="val 10000"/>
            </a:avLst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0088" y="1280160"/>
            <a:ext cx="2606040" cy="7772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2000" b="1" i="0" dirty="0">
                <a:solidFill>
                  <a:srgbClr val="2980B9"/>
                </a:solidFill>
                <a:latin typeface="Georgia"/>
              </a:rPr>
              <a:t>C - </a:t>
            </a: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классификатор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2304 × 256 000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86000"/>
            <a:ext cx="5148072" cy="10515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" y="2395728"/>
            <a:ext cx="4919472" cy="82296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2200" b="1" i="0">
                <a:solidFill>
                  <a:srgbClr val="1C1915"/>
                </a:solidFill>
                <a:latin typeface="Georgia"/>
              </a:rPr>
              <a:t>логиты  |V| × 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5E584E"/>
                </a:solidFill>
                <a:latin typeface="Calibri"/>
              </a:rPr>
              <a:t>256 000 × 8 192 × 4 байта ≈ 8 ГБ, и это только одна копия float32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520440"/>
            <a:ext cx="5257800" cy="2201091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Модель выдаёт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эмбеддинг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каждой позиции, классификатор держит по вектору на каждое слово. Их произведение — и есть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логиты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Одна копия float32 уже около 8 ГБ. В реальном шаге копий несколько: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softmax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, у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Gemma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ещё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softcap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, дубль в bf16. Поэтому пик обычного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loss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— 24 ГБ, а вместе с градиентом — 28.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На обучении N — весь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батч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, а не один токен генерации.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1051560"/>
            <a:ext cx="196596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Baseline,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13648" y="1106424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13648" y="1106424"/>
            <a:ext cx="2005279" cy="146304"/>
          </a:xfrm>
          <a:prstGeom prst="roundRect">
            <a:avLst>
              <a:gd name="adj" fmla="val 50000"/>
            </a:avLst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018520" y="1051560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1" i="0">
                <a:solidFill>
                  <a:srgbClr val="1C1915"/>
                </a:solidFill>
                <a:latin typeface="Calibri"/>
              </a:rPr>
              <a:t>24 ГБ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1490472"/>
            <a:ext cx="196596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Baseline, +град.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8" y="1545336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13648" y="1545336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18520" y="1490472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1" i="0" dirty="0">
                <a:solidFill>
                  <a:srgbClr val="1C1915"/>
                </a:solidFill>
                <a:latin typeface="Calibri"/>
              </a:rPr>
              <a:t>28 ГБ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1929384"/>
            <a:ext cx="196596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torch.compile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13648" y="1984248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13648" y="1984248"/>
            <a:ext cx="1329080" cy="146304"/>
          </a:xfrm>
          <a:prstGeom prst="roundRect">
            <a:avLst>
              <a:gd name="adj" fmla="val 50000"/>
            </a:avLst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018520" y="1929384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1" i="0">
                <a:solidFill>
                  <a:srgbClr val="1C1915"/>
                </a:solidFill>
                <a:latin typeface="Calibri"/>
              </a:rPr>
              <a:t>16 ГБ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2368296"/>
            <a:ext cx="196596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TorchTune, 8 чанков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13648" y="2423160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13648" y="2423160"/>
            <a:ext cx="792784" cy="146304"/>
          </a:xfrm>
          <a:prstGeom prst="roundRect">
            <a:avLst>
              <a:gd name="adj" fmla="val 50000"/>
            </a:avLst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018520" y="2368296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1" i="0">
                <a:solidFill>
                  <a:srgbClr val="1C1915"/>
                </a:solidFill>
                <a:latin typeface="Calibri"/>
              </a:rPr>
              <a:t>9.6 ГБ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2807208"/>
            <a:ext cx="196596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Liger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13648" y="2862072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13648" y="2862072"/>
            <a:ext cx="186537" cy="146304"/>
          </a:xfrm>
          <a:prstGeom prst="roundRect">
            <a:avLst>
              <a:gd name="adj" fmla="val 50000"/>
            </a:avLst>
          </a:prstGeom>
          <a:solidFill>
            <a:srgbClr val="1C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018520" y="280720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1" i="0" dirty="0">
                <a:solidFill>
                  <a:srgbClr val="1C1915"/>
                </a:solidFill>
                <a:latin typeface="Calibri"/>
              </a:rPr>
              <a:t>1.5 ГБ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7688" y="3246120"/>
            <a:ext cx="196596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CCE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13648" y="3300984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613648" y="3300984"/>
            <a:ext cx="139903" cy="146304"/>
          </a:xfrm>
          <a:prstGeom prst="roundRect">
            <a:avLst>
              <a:gd name="adj" fmla="val 50000"/>
            </a:avLst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018520" y="3246120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1" i="0" dirty="0">
                <a:solidFill>
                  <a:srgbClr val="1C1915"/>
                </a:solidFill>
                <a:latin typeface="Calibri"/>
              </a:rPr>
              <a:t>1.16 ГБ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3685031"/>
            <a:ext cx="196596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Нижняя граница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8" y="3739895"/>
            <a:ext cx="23317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613648" y="3739895"/>
            <a:ext cx="139903" cy="146304"/>
          </a:xfrm>
          <a:prstGeom prst="roundRect">
            <a:avLst>
              <a:gd name="adj" fmla="val 50000"/>
            </a:avLst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018520" y="3685031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1" i="0" dirty="0">
                <a:solidFill>
                  <a:srgbClr val="1C1915"/>
                </a:solidFill>
                <a:latin typeface="Calibri"/>
              </a:rPr>
              <a:t>1.16 ГБ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47688" y="4206240"/>
            <a:ext cx="5074920" cy="20116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Зелёные полоски совпали не случайно. Нижняя граница — вес самих градиентов, меньше неё память быть не может. CCE тратит ровно столько: промежуточную матрицу больше не хранят.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ru-RU" sz="1600" dirty="0">
              <a:solidFill>
                <a:srgbClr val="1C1915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* Замер —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Gemma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2 2B, данные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Alpaca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, карта A100 80 ГБ.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FIGURE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Зелёная доля исчезает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05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05840"/>
            <a:ext cx="11430000" cy="77724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Слева обычный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loss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, справа CCE. Зелёное в круге — память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логитов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, серое — активации, синее — веса с оптимизатором. Чем правее точка, тем больший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батч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влезает на 16 карт по 80 ГБ. Справа зелёное почти пропало, и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батч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уехал вправо.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828800"/>
            <a:ext cx="11430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886" y="1883664"/>
            <a:ext cx="9328322" cy="4050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4048" y="6053328"/>
            <a:ext cx="11430000" cy="43891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Figure 1. Год выпуска по вертикали, максимальный батч в миллионах токенов по горизонтали. Кластер: ZeRO, checkpointing, AdamW в 16 битах.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ФОРМУЛА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Два скаляра вместо матрицы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06  /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24128"/>
            <a:ext cx="11420855" cy="10515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78992"/>
            <a:ext cx="11155680" cy="53035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ℓ</a:t>
            </a:r>
            <a:r>
              <a:rPr lang="ru-RU" sz="1600" b="0" i="0" baseline="-25000">
                <a:solidFill>
                  <a:srgbClr val="1C1915"/>
                </a:solidFill>
                <a:latin typeface="Georgia"/>
              </a:rPr>
              <a:t>i</a:t>
            </a:r>
            <a:r>
              <a:rPr lang="ru-RU" sz="2800" b="0" i="0">
                <a:solidFill>
                  <a:srgbClr val="1C1915"/>
                </a:solidFill>
                <a:latin typeface="Georgia"/>
              </a:rPr>
              <a:t>  =  </a:t>
            </a:r>
            <a:r>
              <a:rPr lang="ru-RU" sz="2800" b="0" i="0">
                <a:solidFill>
                  <a:srgbClr val="2980B9"/>
                </a:solidFill>
                <a:latin typeface="Georgia"/>
              </a:rPr>
              <a:t>C</a:t>
            </a:r>
            <a:r>
              <a:rPr lang="ru-RU" sz="1600" b="0" i="0" baseline="-25000">
                <a:solidFill>
                  <a:srgbClr val="2980B9"/>
                </a:solidFill>
                <a:latin typeface="Georgia"/>
              </a:rPr>
              <a:t>xᵢ</a:t>
            </a:r>
            <a:r>
              <a:rPr lang="ru-RU" sz="2800" b="0" i="0">
                <a:solidFill>
                  <a:srgbClr val="1C1915"/>
                </a:solidFill>
                <a:latin typeface="Georgia"/>
              </a:rPr>
              <a:t> · </a:t>
            </a:r>
            <a:r>
              <a:rPr lang="ru-RU" sz="2800" b="0" i="0">
                <a:solidFill>
                  <a:srgbClr val="D4880A"/>
                </a:solidFill>
                <a:latin typeface="Georgia"/>
              </a:rPr>
              <a:t>E</a:t>
            </a:r>
            <a:r>
              <a:rPr lang="ru-RU" sz="1600" b="0" i="0" baseline="-25000">
                <a:solidFill>
                  <a:srgbClr val="D4880A"/>
                </a:solidFill>
                <a:latin typeface="Georgia"/>
              </a:rPr>
              <a:t>i</a:t>
            </a:r>
            <a:r>
              <a:rPr lang="ru-RU" sz="2800" b="0" i="0">
                <a:solidFill>
                  <a:srgbClr val="1C1915"/>
                </a:solidFill>
                <a:latin typeface="Georgia"/>
              </a:rPr>
              <a:t>  −  </a:t>
            </a:r>
            <a:r>
              <a:rPr lang="ru-RU" sz="2800" b="0" i="0">
                <a:solidFill>
                  <a:srgbClr val="C0392B"/>
                </a:solidFill>
                <a:latin typeface="Georgia"/>
              </a:rPr>
              <a:t>log ∑</a:t>
            </a:r>
            <a:r>
              <a:rPr lang="ru-RU" sz="1600" b="0" i="0" baseline="-25000">
                <a:solidFill>
                  <a:srgbClr val="C0392B"/>
                </a:solidFill>
                <a:latin typeface="Georgia"/>
              </a:rPr>
              <a:t>j</a:t>
            </a:r>
            <a:r>
              <a:rPr lang="ru-RU" sz="2800" b="0" i="0">
                <a:solidFill>
                  <a:srgbClr val="C0392B"/>
                </a:solidFill>
                <a:latin typeface="Georgia"/>
              </a:rPr>
              <a:t> exp(</a:t>
            </a:r>
            <a:r>
              <a:rPr lang="ru-RU" sz="2800" b="0" i="0">
                <a:solidFill>
                  <a:srgbClr val="2980B9"/>
                </a:solidFill>
                <a:latin typeface="Georgia"/>
              </a:rPr>
              <a:t>C</a:t>
            </a:r>
            <a:r>
              <a:rPr lang="ru-RU" sz="1600" b="0" i="0" baseline="-25000">
                <a:solidFill>
                  <a:srgbClr val="2980B9"/>
                </a:solidFill>
                <a:latin typeface="Georgia"/>
              </a:rPr>
              <a:t>j</a:t>
            </a:r>
            <a:r>
              <a:rPr lang="ru-RU" sz="2800" b="0" i="0">
                <a:solidFill>
                  <a:srgbClr val="1C1915"/>
                </a:solidFill>
                <a:latin typeface="Georgia"/>
              </a:rPr>
              <a:t> · </a:t>
            </a:r>
            <a:r>
              <a:rPr lang="ru-RU" sz="2800" b="0" i="0">
                <a:solidFill>
                  <a:srgbClr val="D4880A"/>
                </a:solidFill>
                <a:latin typeface="Georgia"/>
              </a:rPr>
              <a:t>E</a:t>
            </a:r>
            <a:r>
              <a:rPr lang="ru-RU" sz="1600" b="0" i="0" baseline="-25000">
                <a:solidFill>
                  <a:srgbClr val="D4880A"/>
                </a:solidFill>
                <a:latin typeface="Georgia"/>
              </a:rPr>
              <a:t>i</a:t>
            </a:r>
            <a:r>
              <a:rPr lang="ru-RU" sz="2800" b="0" i="0">
                <a:solidFill>
                  <a:srgbClr val="C0392B"/>
                </a:solidFill>
                <a:latin typeface="Georgia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27632"/>
            <a:ext cx="11064240" cy="32918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2980B9"/>
                </a:solidFill>
                <a:latin typeface="Calibri"/>
              </a:rPr>
              <a:t>■  </a:t>
            </a:r>
            <a:r>
              <a:rPr lang="ru-RU" sz="1300" b="0" i="0">
                <a:solidFill>
                  <a:srgbClr val="5E584E"/>
                </a:solidFill>
                <a:latin typeface="Calibri"/>
              </a:rPr>
              <a:t>C — классификатор, D × |V|     </a:t>
            </a:r>
            <a:r>
              <a:rPr lang="ru-RU" sz="1200" b="0" i="0">
                <a:solidFill>
                  <a:srgbClr val="D4880A"/>
                </a:solidFill>
                <a:latin typeface="Calibri"/>
              </a:rPr>
              <a:t>■  </a:t>
            </a:r>
            <a:r>
              <a:rPr lang="ru-RU" sz="1300" b="0" i="0">
                <a:solidFill>
                  <a:srgbClr val="5E584E"/>
                </a:solidFill>
                <a:latin typeface="Calibri"/>
              </a:rPr>
              <a:t>E — эмбеддинги, D × N     </a:t>
            </a:r>
            <a:r>
              <a:rPr lang="ru-RU" sz="1200" b="0" i="0">
                <a:solidFill>
                  <a:srgbClr val="C0392B"/>
                </a:solidFill>
                <a:latin typeface="Calibri"/>
              </a:rPr>
              <a:t>■  </a:t>
            </a:r>
            <a:r>
              <a:rPr lang="ru-RU" sz="1300" b="0" i="0">
                <a:solidFill>
                  <a:srgbClr val="5E584E"/>
                </a:solidFill>
                <a:latin typeface="Calibri"/>
              </a:rPr>
              <a:t>красное — log-sum-exp, вектор длины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194560"/>
            <a:ext cx="5669280" cy="12344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" y="2249424"/>
            <a:ext cx="539496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2980B9"/>
                </a:solidFill>
                <a:latin typeface="Calibri"/>
              </a:rPr>
              <a:t>ЗАВИСИТ ОТ МЕТКИ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450592"/>
            <a:ext cx="539496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Логит правильного токена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761488"/>
            <a:ext cx="5394960" cy="5943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Берём столбец классификатора только для верного слова и умножаем на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эмбеддинг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Наружу пишется одно число на токен.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194560"/>
            <a:ext cx="5559552" cy="12344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2249424"/>
            <a:ext cx="539496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ОТ МЕТКИ НЕ ЗАВИСИТ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450592"/>
            <a:ext cx="539496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Log-sum-exp по словарю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761488"/>
            <a:ext cx="5315712" cy="5943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Второе слагаемое смотрит на все слова сразу и тоже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схлопывается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в одно число. Оно нужно, чтобы вероятности в сумме давали единицу.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547872"/>
            <a:ext cx="3703320" cy="16916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" y="3621024"/>
            <a:ext cx="3474720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Простыми словами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4023360"/>
            <a:ext cx="3474720" cy="11155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Loss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— это «насколько модель уверена в правильном слове» минус «насколько она размазана по всему словарю». Первое число большое, если верное слово и так наверху. Второе — если вероятность размазана.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2816" y="3547872"/>
            <a:ext cx="3703320" cy="16916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52544" y="3621024"/>
            <a:ext cx="3474720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Что остаётся в памяти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2544" y="4023360"/>
            <a:ext cx="3474720" cy="11155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Два вектора длины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батча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Матрицу «словарь × токены» считают кусками в быстрой памяти чипа и сразу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схлопывают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На карте остаётся ответ, а не таблица.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3547872"/>
            <a:ext cx="3703320" cy="16916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11311" y="3621024"/>
            <a:ext cx="3474720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Почему больно в обучении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1" y="4023360"/>
            <a:ext cx="3474720" cy="11155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При генерации нужен один следующий токен. При обучении все позиции считаются сразу. Одна последовательность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Gemma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2 на 80 тысяч токенов заполняет H100 одними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логитами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6002382"/>
            <a:ext cx="11430000" cy="380129"/>
          </a:xfrm>
          <a:prstGeom prst="roundRect">
            <a:avLst>
              <a:gd name="adj" fmla="val 8000"/>
            </a:avLst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6002382"/>
            <a:ext cx="54864" cy="380130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6067696"/>
            <a:ext cx="11173968" cy="278239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Запомнить формулу можно так: верное слово минус «насколько модель сомневается обо всём словаре». Оба числа — скаляры, матрицу хранить незачем.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FIGURE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Три ядра в SRAM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07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11430000" cy="64008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1C1915"/>
                </a:solidFill>
                <a:latin typeface="Calibri"/>
              </a:rPr>
              <a:t>Три прохода заменяют одну большую матрицу. Оранжевый — эмбеддинги, синий — классификатор, красный — уже посчитанный log-sum-exp. Всё промежуточное живёт в SRAM, быстрой памяти на чипе, и в память карты не попадает.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664208"/>
            <a:ext cx="114300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176" y="1719072"/>
            <a:ext cx="8135742" cy="34107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4048" y="5303520"/>
            <a:ext cx="370332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1" i="0">
                <a:solidFill>
                  <a:srgbClr val="1C1915"/>
                </a:solidFill>
                <a:latin typeface="Calibri"/>
              </a:rPr>
              <a:t>(a) Логит правильного слова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5577840"/>
            <a:ext cx="3703320" cy="7772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5E584E"/>
                </a:solidFill>
                <a:latin typeface="Calibri"/>
              </a:rPr>
              <a:t>Берут один столбец классификатора, умножают на эмбеддинг и пишут одно число.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5303520"/>
            <a:ext cx="370332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1" i="0">
                <a:solidFill>
                  <a:srgbClr val="1C1915"/>
                </a:solidFill>
                <a:latin typeface="Calibri"/>
              </a:rPr>
              <a:t>(b) Сумма по словарю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5577840"/>
            <a:ext cx="3703320" cy="7772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5E584E"/>
                </a:solidFill>
                <a:latin typeface="Calibri"/>
              </a:rPr>
              <a:t>Словарь режут на блоки, в каждом считают кусок суммы и добавляют его в вектор длины батча.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5303520"/>
            <a:ext cx="370332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1" i="0" dirty="0">
                <a:solidFill>
                  <a:srgbClr val="1C1915"/>
                </a:solidFill>
                <a:latin typeface="Calibri"/>
              </a:rPr>
              <a:t>(c) Градиент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1583" y="5577840"/>
            <a:ext cx="3703320" cy="7772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5E584E"/>
                </a:solidFill>
                <a:latin typeface="Calibri"/>
              </a:rPr>
              <a:t>Логиты пересчитывают заново. Блок, где все вероятности ниже порога точности, пропускают.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ФИЛЬТР ГРАДИЕНТА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Softmax почти весь нулевой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08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05840"/>
            <a:ext cx="5760720" cy="10515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1C1915"/>
                </a:solidFill>
                <a:latin typeface="Calibri"/>
              </a:rPr>
              <a:t>У большого словаря почти вся вероятность сидит на нескольких словах. Остальные числа настолько малы, что bf16 при сложении их обнуляет. Дифференцировать их бессмысленно: ответ не изменится.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1488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203704"/>
            <a:ext cx="1737360" cy="329184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2⁻¹²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51176"/>
            <a:ext cx="1737360" cy="5029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5E584E"/>
                </a:solidFill>
                <a:latin typeface="Calibri"/>
              </a:rPr>
              <a:t>порог ε. Меньше — отрезается точностью bf16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0008" y="21488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23160" y="2203704"/>
            <a:ext cx="1737360" cy="329184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≤ 4096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551176"/>
            <a:ext cx="1737360" cy="5029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5E584E"/>
                </a:solidFill>
                <a:latin typeface="Calibri"/>
              </a:rPr>
              <a:t>значимых вероятностей в одном столбце, 1/ε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21488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203704"/>
            <a:ext cx="1737360" cy="329184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&lt; 0.02%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51176"/>
            <a:ext cx="1737360" cy="5029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5E584E"/>
                </a:solidFill>
                <a:latin typeface="Calibri"/>
              </a:rPr>
              <a:t>ненулевых элементов softmax на моделях из статьи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320040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255264"/>
            <a:ext cx="1737360" cy="329184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100 мс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02736"/>
            <a:ext cx="1737360" cy="5029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5E584E"/>
                </a:solidFill>
                <a:latin typeface="Calibri"/>
              </a:rPr>
              <a:t>градиент с фильтром. Без него — 314 мс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50008" y="320040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23160" y="3255264"/>
            <a:ext cx="1737360" cy="329184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~50-й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602736"/>
            <a:ext cx="1737360" cy="5029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5E584E"/>
                </a:solidFill>
                <a:latin typeface="Calibri"/>
              </a:rPr>
              <a:t>токен по рангу уже ниже отсечки на графике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20040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0" y="3255264"/>
            <a:ext cx="1737360" cy="329184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+1 МБ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602736"/>
            <a:ext cx="1737360" cy="5029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5E584E"/>
                </a:solidFill>
                <a:latin typeface="Calibri"/>
              </a:rPr>
              <a:t>сортировка по среднему логиту, около −15% времени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343400"/>
            <a:ext cx="5760720" cy="19202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1C1915"/>
                </a:solidFill>
                <a:latin typeface="Calibri"/>
              </a:rPr>
              <a:t>Фильтр смотрит на целые блоки, не на отдельные слова. Чтобы пустые блоки и правда были пустыми, слова с близким средним логитом группируют вместе. Модель от этого не меняется, буфер — около 1 МБ, время падает примерно на 15%.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100584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ig3.png"/>
          <p:cNvPicPr>
            <a:picLocks noChangeAspect="1"/>
          </p:cNvPicPr>
          <p:nvPr/>
        </p:nvPicPr>
        <p:blipFill rotWithShape="1">
          <a:blip r:embed="rId3"/>
          <a:srcRect r="12202"/>
          <a:stretch/>
        </p:blipFill>
        <p:spPr>
          <a:xfrm>
            <a:off x="6735209" y="1613091"/>
            <a:ext cx="4680422" cy="34946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55080" y="5779008"/>
            <a:ext cx="5440680" cy="6400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Figure 3. Чем правее точка, тем реже слово. Около 50-го места кривая уходит под чёрную линию: ниже неё bf16 всё равно ничего не видит.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TABLE 1 · GEMMA 2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i="0" dirty="0">
                <a:solidFill>
                  <a:srgbClr val="1C1915"/>
                </a:solidFill>
                <a:latin typeface="Georgia"/>
              </a:rPr>
              <a:t>1.16 ГБ и 145 </a:t>
            </a:r>
            <a:r>
              <a:rPr lang="ru-RU" sz="2800" i="0" dirty="0" err="1">
                <a:solidFill>
                  <a:srgbClr val="1C1915"/>
                </a:solidFill>
                <a:latin typeface="Georgia"/>
              </a:rPr>
              <a:t>мс</a:t>
            </a:r>
            <a:endParaRPr lang="ru-RU" sz="2800" i="0" dirty="0">
              <a:solidFill>
                <a:srgbClr val="1C1915"/>
              </a:solidFill>
              <a:latin typeface="Georg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09  / 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024128"/>
          <a:ext cx="114300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8A8276"/>
                          </a:solidFill>
                          <a:latin typeface="Calibri"/>
                        </a:rPr>
                        <a:t>Метод</a:t>
                      </a:r>
                    </a:p>
                  </a:txBody>
                  <a:tcPr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A8276"/>
                          </a:solidFill>
                          <a:latin typeface="Calibri"/>
                        </a:rPr>
                        <a:t>Память loss+grad</a:t>
                      </a:r>
                    </a:p>
                  </a:txBody>
                  <a:tcPr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8A8276"/>
                          </a:solidFill>
                          <a:latin typeface="Calibri"/>
                        </a:rPr>
                        <a:t>Время</a:t>
                      </a:r>
                    </a:p>
                  </a:txBody>
                  <a:tcPr>
                    <a:solidFill>
                      <a:srgbClr val="F4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6B4A"/>
                          </a:solidFill>
                          <a:latin typeface="Calibri"/>
                        </a:rPr>
                        <a:t>CCE</a:t>
                      </a:r>
                    </a:p>
                  </a:txBody>
                  <a:tcPr anchor="ctr"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6B4A"/>
                          </a:solidFill>
                          <a:latin typeface="Calibri"/>
                        </a:rPr>
                        <a:t>1.16 ГБ</a:t>
                      </a:r>
                    </a:p>
                  </a:txBody>
                  <a:tcPr anchor="ctr"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6B4A"/>
                          </a:solidFill>
                          <a:latin typeface="Calibri"/>
                        </a:rPr>
                        <a:t>145 мс</a:t>
                      </a:r>
                    </a:p>
                  </a:txBody>
                  <a:tcPr anchor="ctr">
                    <a:solidFill>
                      <a:srgbClr val="E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1915"/>
                          </a:solidFill>
                          <a:latin typeface="Calibri"/>
                        </a:rPr>
                        <a:t>Liger Kernels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1.47 ГБ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304 мс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1915"/>
                          </a:solidFill>
                          <a:latin typeface="Calibri"/>
                        </a:rPr>
                        <a:t>TorchTune, 8 чанков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9.6 ГБ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169 мс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1915"/>
                          </a:solidFill>
                          <a:latin typeface="Calibri"/>
                        </a:rPr>
                        <a:t>torch.compile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16 ГБ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143 мс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1915"/>
                          </a:solidFill>
                          <a:latin typeface="Calibri"/>
                        </a:rPr>
                        <a:t>Baseline, PyTorch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28 ГБ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208 мс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1915"/>
                          </a:solidFill>
                          <a:latin typeface="Calibri"/>
                        </a:rPr>
                        <a:t>CCE без фильтра градиента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1.16 ГБ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357 мс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1915"/>
                          </a:solidFill>
                          <a:latin typeface="Calibri"/>
                        </a:rPr>
                        <a:t>CCE-Kahan-FullC, предобучение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2.33 ГБ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C1915"/>
                          </a:solidFill>
                          <a:latin typeface="Calibri"/>
                        </a:rPr>
                        <a:t>313 мс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3767328"/>
            <a:ext cx="3703320" cy="16916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" y="3822191"/>
            <a:ext cx="347472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500" b="1" i="0" dirty="0">
                <a:solidFill>
                  <a:srgbClr val="1C1915"/>
                </a:solidFill>
                <a:latin typeface="Georgia"/>
              </a:rPr>
              <a:t>Почти бесплатно по времени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4224528"/>
            <a:ext cx="3474720" cy="11430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torch.compile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— 143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мс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и 16 ГБ. CCE — 145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мс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и 1.16 ГБ. Две миллисекунды за многократную экономию памяти. Память CCE растёт как длина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батча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плюс словарь, у обычного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PyTorch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— как их произведение.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2816" y="3767328"/>
            <a:ext cx="3703320" cy="16916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52544" y="3822191"/>
            <a:ext cx="347472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500" b="1" i="0" dirty="0">
                <a:solidFill>
                  <a:srgbClr val="1C1915"/>
                </a:solidFill>
                <a:latin typeface="Georgia"/>
              </a:rPr>
              <a:t>Чем не </a:t>
            </a:r>
            <a:r>
              <a:rPr lang="ru-RU" sz="1500" b="1" i="0" dirty="0" err="1">
                <a:solidFill>
                  <a:srgbClr val="1C1915"/>
                </a:solidFill>
                <a:latin typeface="Georgia"/>
              </a:rPr>
              <a:t>Liger</a:t>
            </a:r>
            <a:endParaRPr lang="ru-RU" sz="1500" b="1" i="0" dirty="0">
              <a:solidFill>
                <a:srgbClr val="1C1915"/>
              </a:solidFill>
              <a:latin typeface="Georgi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52544" y="4224528"/>
            <a:ext cx="3474720" cy="11430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Liger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тоже экономит память, но вдвое медленнее: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loss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и градиент у него в одном ядре. У CCE проходы разделены, маску и веса токенов можно оставить обычным кодом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PyTorch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3767328"/>
            <a:ext cx="3703320" cy="16916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1" y="3822191"/>
            <a:ext cx="347472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500" b="1" i="0" dirty="0">
                <a:solidFill>
                  <a:srgbClr val="1C1915"/>
                </a:solidFill>
                <a:latin typeface="Georgia"/>
              </a:rPr>
              <a:t>Две последние строки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1" y="4224528"/>
            <a:ext cx="3474720" cy="11430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Без фильтра градиента время прыгает до 357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мс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Режим для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предобучения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медленнее, 313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мс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, и берёт 2.33 ГБ: так редкие слова всё-таки учатся.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6061166"/>
            <a:ext cx="11430000" cy="357922"/>
          </a:xfrm>
          <a:prstGeom prst="roundRect">
            <a:avLst>
              <a:gd name="adj" fmla="val 8000"/>
            </a:avLst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6061166"/>
            <a:ext cx="54864" cy="35792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119948"/>
            <a:ext cx="11173968" cy="262563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Сетап таблицы: A100 80 ГБ, PyTorch 2.4.1, CUDA 12.4, пять запусков. Время и память — на весь шаг, loss вместе с градиентом.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FIGURE 4 · ALPACA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Кривые дообучения совпадают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10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05840"/>
            <a:ext cx="11430000" cy="777240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Четыре уже обученные модели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дообучали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на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Alpaca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. Оранжевая линия — CCE, синяя — обычный точный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loss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, полоса — разброс по пяти запускам. Линии лежат друг на друге: отбрасывание хвоста </a:t>
            </a:r>
            <a:r>
              <a:rPr lang="ru-RU" sz="1600" b="0" i="0" dirty="0" err="1">
                <a:solidFill>
                  <a:srgbClr val="1C1915"/>
                </a:solidFill>
                <a:latin typeface="Calibri"/>
              </a:rPr>
              <a:t>softmax</a:t>
            </a:r>
            <a:r>
              <a:rPr lang="ru-RU" sz="1600" b="0" i="0" dirty="0">
                <a:solidFill>
                  <a:srgbClr val="1C1915"/>
                </a:solidFill>
                <a:latin typeface="Calibri"/>
              </a:rPr>
              <a:t> обучение не портит, редкие слова и так уже выучены.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828800"/>
            <a:ext cx="11430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134" y="1883664"/>
            <a:ext cx="7099827" cy="4050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4048" y="6053328"/>
            <a:ext cx="11430000" cy="43891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Figure 4. Training loss на Alpaca. Для дообучения достаточно обычного CCE.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FIGURE 5 · OPENWEBTEXT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Предобучение — другой режим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11  /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24128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1097280"/>
            <a:ext cx="534924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ПОЧЕМУ ОБЫЧНЫЙ CCE ПРОСЕДАЕТ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316736"/>
            <a:ext cx="5349240" cy="31089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Две ошибки точности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682496"/>
            <a:ext cx="5349240" cy="11887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Редкое слово, на которое модель почти не смотрит, не получает градиент в свой столбец классификатора и так и остаётся необученным. Плюс сумма в памяти идёт в bf16 и на длинном обучении теряет точность.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127248"/>
            <a:ext cx="5623560" cy="16916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3200400"/>
            <a:ext cx="534924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2980B9"/>
                </a:solidFill>
                <a:latin typeface="Calibri"/>
              </a:rPr>
              <a:t>ЧТО ВКЛЮЧИТЬ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419856"/>
            <a:ext cx="5349240" cy="31089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CCE-Kahan-FullC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785615"/>
            <a:ext cx="5349240" cy="9144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Более точное сложение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Кахана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и полный градиент по классификатору. Градиент по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эмбеддингам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по-прежнему фильтруют. Памяти чуть больше, 2.3 ГБ вместо 1.2, но это далеко от 16–28 ГБ.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937760"/>
            <a:ext cx="5623560" cy="13716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Справа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perplexity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совпадает с точным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baseline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На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Mistral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NeMo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больший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батч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сократил обучение на 2 часа, это 16%, хотя само ядро медленнее.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024128"/>
            <a:ext cx="557784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i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3" y="1748733"/>
            <a:ext cx="5468112" cy="31685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0" y="5715000"/>
            <a:ext cx="5577840" cy="6858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Те же четыре модели, предобучение на 5% OpenWebText. Оранжевая линия — аккуратный режим CCE, синяя — точный loss. Валидация — 0.25%, которые не попадали в обучение.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TABLE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 dirty="0" err="1">
                <a:solidFill>
                  <a:srgbClr val="1C1915"/>
                </a:solidFill>
                <a:latin typeface="Georgia"/>
              </a:rPr>
              <a:t>Батч</a:t>
            </a:r>
            <a:r>
              <a:rPr lang="ru-RU" sz="2800" b="0" i="0" dirty="0">
                <a:solidFill>
                  <a:srgbClr val="1C1915"/>
                </a:solidFill>
                <a:latin typeface="Georgia"/>
              </a:rPr>
              <a:t> растёт вместе со словарём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12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51560"/>
            <a:ext cx="155448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Gemma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2B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8528" y="1106424"/>
            <a:ext cx="32461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938528" y="1106424"/>
            <a:ext cx="3022949" cy="146304"/>
          </a:xfrm>
          <a:prstGeom prst="roundRect">
            <a:avLst>
              <a:gd name="adj" fmla="val 50000"/>
            </a:avLst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1051560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1" i="0">
                <a:solidFill>
                  <a:srgbClr val="1C1915"/>
                </a:solidFill>
                <a:latin typeface="Calibri"/>
              </a:rPr>
              <a:t>×14.9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73352"/>
            <a:ext cx="155448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1C1915"/>
                </a:solidFill>
                <a:latin typeface="Calibri"/>
              </a:rPr>
              <a:t>GPT-2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38528" y="1728216"/>
            <a:ext cx="32461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938528" y="1728216"/>
            <a:ext cx="2414301" cy="146304"/>
          </a:xfrm>
          <a:prstGeom prst="roundRect">
            <a:avLst>
              <a:gd name="adj" fmla="val 50000"/>
            </a:avLst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1673352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1" i="0">
                <a:solidFill>
                  <a:srgbClr val="1C1915"/>
                </a:solidFill>
                <a:latin typeface="Calibri"/>
              </a:rPr>
              <a:t>×11.9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295144"/>
            <a:ext cx="155448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1C1915"/>
                </a:solidFill>
                <a:latin typeface="Calibri"/>
              </a:rPr>
              <a:t>Gemma 2 2B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38528" y="2350008"/>
            <a:ext cx="32461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938528" y="2350008"/>
            <a:ext cx="1927383" cy="146304"/>
          </a:xfrm>
          <a:prstGeom prst="roundRect">
            <a:avLst>
              <a:gd name="adj" fmla="val 50000"/>
            </a:avLst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2295144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1" i="0">
                <a:solidFill>
                  <a:srgbClr val="1C1915"/>
                </a:solidFill>
                <a:latin typeface="Calibri"/>
              </a:rPr>
              <a:t>×9.5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916936"/>
            <a:ext cx="155448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1C1915"/>
                </a:solidFill>
                <a:latin typeface="Calibri"/>
              </a:rPr>
              <a:t>Qwen 1.5 7B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38528" y="2971800"/>
            <a:ext cx="32461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938528" y="2971800"/>
            <a:ext cx="669512" cy="146304"/>
          </a:xfrm>
          <a:prstGeom prst="roundRect">
            <a:avLst>
              <a:gd name="adj" fmla="val 50000"/>
            </a:avLst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57800" y="2916936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1" i="0">
                <a:solidFill>
                  <a:srgbClr val="1C1915"/>
                </a:solidFill>
                <a:latin typeface="Calibri"/>
              </a:rPr>
              <a:t>×3.3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538728"/>
            <a:ext cx="155448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1C1915"/>
                </a:solidFill>
                <a:latin typeface="Calibri"/>
              </a:rPr>
              <a:t>Llama 3 8B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38528" y="3593592"/>
            <a:ext cx="32461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938528" y="3593592"/>
            <a:ext cx="608647" cy="146304"/>
          </a:xfrm>
          <a:prstGeom prst="roundRect">
            <a:avLst>
              <a:gd name="adj" fmla="val 50000"/>
            </a:avLst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57800" y="3538728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1" i="0">
                <a:solidFill>
                  <a:srgbClr val="1C1915"/>
                </a:solidFill>
                <a:latin typeface="Calibri"/>
              </a:rPr>
              <a:t>×3.0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160520"/>
            <a:ext cx="155448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1C1915"/>
                </a:solidFill>
                <a:latin typeface="Calibri"/>
              </a:rPr>
              <a:t>Llama 2 7B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38528" y="4215384"/>
            <a:ext cx="32461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938528" y="4215384"/>
            <a:ext cx="304323" cy="146304"/>
          </a:xfrm>
          <a:prstGeom prst="roundRect">
            <a:avLst>
              <a:gd name="adj" fmla="val 50000"/>
            </a:avLst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57800" y="4160520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1" i="0">
                <a:solidFill>
                  <a:srgbClr val="1C1915"/>
                </a:solidFill>
                <a:latin typeface="Calibri"/>
              </a:rPr>
              <a:t>×1.5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4782312"/>
            <a:ext cx="155448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1C1915"/>
                </a:solidFill>
                <a:latin typeface="Calibri"/>
              </a:rPr>
              <a:t>Llama 3 70B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38528" y="4837176"/>
            <a:ext cx="32461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938528" y="4837176"/>
            <a:ext cx="284035" cy="146304"/>
          </a:xfrm>
          <a:prstGeom prst="roundRect">
            <a:avLst>
              <a:gd name="adj" fmla="val 50000"/>
            </a:avLst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57800" y="4782312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1" i="0">
                <a:solidFill>
                  <a:srgbClr val="1C1915"/>
                </a:solidFill>
                <a:latin typeface="Calibri"/>
              </a:rPr>
              <a:t>×1.4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5404104"/>
            <a:ext cx="155448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1C1915"/>
                </a:solidFill>
                <a:latin typeface="Calibri"/>
              </a:rPr>
              <a:t>Llama 2 13B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38528" y="5458968"/>
            <a:ext cx="3246120" cy="146304"/>
          </a:xfrm>
          <a:prstGeom prst="roundRect">
            <a:avLst>
              <a:gd name="adj" fmla="val 50000"/>
            </a:avLst>
          </a:prstGeom>
          <a:solidFill>
            <a:srgbClr val="E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938528" y="5458968"/>
            <a:ext cx="263747" cy="146304"/>
          </a:xfrm>
          <a:prstGeom prst="roundRect">
            <a:avLst>
              <a:gd name="adj" fmla="val 50000"/>
            </a:avLst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57800" y="5404104"/>
            <a:ext cx="777240" cy="256032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1" i="0">
                <a:solidFill>
                  <a:srgbClr val="1C1915"/>
                </a:solidFill>
                <a:latin typeface="Calibri"/>
              </a:rPr>
              <a:t>×1.3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1024128"/>
            <a:ext cx="5532120" cy="1627632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1097280"/>
            <a:ext cx="525780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8A8276"/>
                </a:solidFill>
                <a:latin typeface="Calibri"/>
              </a:rPr>
              <a:t>PIPELINE PARALLELISM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298448"/>
            <a:ext cx="525780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Голова перестаёт быть выбросом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719072"/>
            <a:ext cx="5257800" cy="8412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В конвейере стадии хотят похожий баланс памяти и счёта. Голова сейчас аномалия: памяти много, арифметики относительно мало. CCE делает её обычным слоем, и стадий иногда нужно меньше.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2761488"/>
            <a:ext cx="5532120" cy="1627632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2834640"/>
            <a:ext cx="525780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8A8276"/>
                </a:solidFill>
                <a:latin typeface="Calibri"/>
              </a:rPr>
              <a:t>ПРИЛОЖЕНИЕ 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035808"/>
            <a:ext cx="525780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Паддинг не надо считать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456432"/>
            <a:ext cx="5257800" cy="8412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Паддинг, системный промпт и реплика пользователя часто не входят в loss, но логиты для них всё равно считают и потом зануляют. Если выкинуть их до ядра, тот же пример считается за 54 мс вместо 145.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498848"/>
            <a:ext cx="5532120" cy="1627632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4572000"/>
            <a:ext cx="525780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8A8276"/>
                </a:solidFill>
                <a:latin typeface="Calibri"/>
              </a:rPr>
              <a:t>КАК ЧИТАТЬ ПОЛОСКИ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773168"/>
            <a:ext cx="5257800" cy="3840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600" b="0" i="0">
                <a:solidFill>
                  <a:srgbClr val="1C1915"/>
                </a:solidFill>
                <a:latin typeface="Georgia"/>
              </a:rPr>
              <a:t>Выигрыш там, где словарь был главной статьёй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193792"/>
            <a:ext cx="5257800" cy="84124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Длинные полоски — маленькие модели с большим словарём. Короткие — большие модели, где память съедают веса и Adam. Считалось так: 16 карт по 80 ГБ минус запас и минус веса, остаток делили на память одного токена.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APPLE/ML-CROSS-ENTROPY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Замена одной функции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13  /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24128"/>
            <a:ext cx="5806440" cy="2880360"/>
          </a:xfrm>
          <a:prstGeom prst="roundRect">
            <a:avLst>
              <a:gd name="adj" fmla="val 6000"/>
            </a:avLst>
          </a:prstGeom>
          <a:solidFill>
            <a:srgbClr val="1B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5577840" cy="26974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E7DFD2"/>
                </a:solidFill>
                <a:latin typeface="Consolas"/>
              </a:rPr>
              <a:t># было
logits = embeddings @ classifier.T
loss = F.cross_entropy(logits.float(), labels)
# стало. shift=1 сдвигает метку на следующий токен
loss = linear_cross_entropy(
    embeddings, classifier, labels, shift=1
)
# Hugging Face. Логиты вернутся как None.
# Семейства: llama, phi3, mistral, gemma2
model = cce_patch(model)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024128"/>
            <a:ext cx="5440680" cy="585216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060704"/>
            <a:ext cx="5212080" cy="21945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1C1915"/>
                </a:solidFill>
                <a:latin typeface="Consolas"/>
              </a:rPr>
              <a:t>cce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280160"/>
            <a:ext cx="521208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Старт. Минимум памяти, forward и backward раздельно.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64208"/>
            <a:ext cx="5440680" cy="585216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700784"/>
            <a:ext cx="5212080" cy="21945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1C1915"/>
                </a:solidFill>
                <a:latin typeface="Consolas"/>
              </a:rPr>
              <a:t>torch_compile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20240"/>
            <a:ext cx="521208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Максимум скорости при умеренном |V|/D. Работает без Triton.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04288"/>
            <a:ext cx="5440680" cy="585216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2340864"/>
            <a:ext cx="5212080" cy="21945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1C1915"/>
                </a:solidFill>
                <a:latin typeface="Consolas"/>
              </a:rPr>
              <a:t>cce_kahan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560320"/>
            <a:ext cx="521208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Суммирование Кахана. Длинные последовательности.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944368"/>
            <a:ext cx="5440680" cy="585216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980944"/>
            <a:ext cx="5212080" cy="219456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1" i="0">
                <a:solidFill>
                  <a:srgbClr val="1C1915"/>
                </a:solidFill>
                <a:latin typeface="Consolas"/>
              </a:rPr>
              <a:t>cce_kahan_full_c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200400"/>
            <a:ext cx="521208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200" b="0" i="0">
                <a:solidFill>
                  <a:srgbClr val="5E584E"/>
                </a:solidFill>
                <a:latin typeface="Calibri"/>
              </a:rPr>
              <a:t>Предобучение: Кахан и полный градиент по классификатору.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611880"/>
            <a:ext cx="5440680" cy="2560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Python 3.9+  ·  PyTorch 2.4+  ·  Triton 3.0+  ·  Ampere или новее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02336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" y="4078224"/>
            <a:ext cx="347472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500" b="1" i="0" dirty="0">
                <a:solidFill>
                  <a:srgbClr val="1C1915"/>
                </a:solidFill>
                <a:latin typeface="Georgia"/>
              </a:rPr>
              <a:t>Что меняется в коде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" y="4389120"/>
            <a:ext cx="3474720" cy="9601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Апкаст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логитов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во float32 больше не нужен: ядро само считает неустойчивые места точно.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shift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=1 сдвигает метку внутри. Тот же вызов подходит и для CLIP.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402336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52544" y="4078224"/>
            <a:ext cx="347472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500" b="1" i="0" dirty="0" err="1">
                <a:solidFill>
                  <a:srgbClr val="1C1915"/>
                </a:solidFill>
                <a:latin typeface="Georgia"/>
              </a:rPr>
              <a:t>Логитов</a:t>
            </a:r>
            <a:r>
              <a:rPr lang="ru-RU" sz="1500" b="1" i="0" dirty="0">
                <a:solidFill>
                  <a:srgbClr val="1C1915"/>
                </a:solidFill>
                <a:latin typeface="Georgia"/>
              </a:rPr>
              <a:t> больше нет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2544" y="4389120"/>
            <a:ext cx="3474720" cy="9601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После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cce_patch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модель возвращает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None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вместо матрицы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логитов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Матрицы больше не существует, есть только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loss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Маски и веса токенов остаются обычным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PyTorch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402336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1" y="4078224"/>
            <a:ext cx="3474720" cy="29260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500" b="1" i="0" dirty="0">
                <a:solidFill>
                  <a:srgbClr val="1C1915"/>
                </a:solidFill>
                <a:latin typeface="Georgia"/>
              </a:rPr>
              <a:t>С чего начать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4389120"/>
            <a:ext cx="3474720" cy="9601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Для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дообучения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—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cce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Для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предобучения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—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cce_kahan_full_c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На Mac и старых GPU библиотека сама переключается на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torch_compile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6044182"/>
            <a:ext cx="11430000" cy="356617"/>
          </a:xfrm>
          <a:prstGeom prst="roundRect">
            <a:avLst>
              <a:gd name="adj" fmla="val 8000"/>
            </a:avLst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84048" y="6044182"/>
            <a:ext cx="54864" cy="356618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080759"/>
            <a:ext cx="11173968" cy="283463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1C1915"/>
                </a:solidFill>
                <a:latin typeface="Calibri"/>
              </a:rPr>
              <a:t>Подключение — замена двух строк. Если после патча логиты стали None, так и задумано: их больше негде хранить.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ЧЕГО ЖДАТЬ НЕ СТОИТ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Четыре границы метода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14  /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51560"/>
            <a:ext cx="5669280" cy="2011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143000"/>
            <a:ext cx="534924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ПРЕДОБУЧЕНИЕ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362456"/>
            <a:ext cx="5349240" cy="34747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Не режим по умолчанию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783080"/>
            <a:ext cx="5349240" cy="11430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Обычный CCE хорош для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дообучения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На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предобучении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он не обновляет редкие слова и складывает числа в bf16, этого на длинном обучении не хватает. Там берут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cce_kahan_full_c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: точнее сумма и полный градиент классификатора.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051560"/>
            <a:ext cx="5669280" cy="2011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143000"/>
            <a:ext cx="534924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2980B9"/>
                </a:solidFill>
                <a:latin typeface="Calibri"/>
              </a:rPr>
              <a:t>ФОРМУЛА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362456"/>
            <a:ext cx="5349240" cy="34747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Тот же softmax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83080"/>
            <a:ext cx="5349240" cy="11430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Это не приближённый словарь и не отбор «активных» токенов. Формула та же, что у обычной кросс-энтропии. Выкидывается только то, что bf16 при сложении и так обнулил бы, и только на обратном проходе.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200400"/>
            <a:ext cx="5669280" cy="2011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3291840"/>
            <a:ext cx="534924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8A8276"/>
                </a:solidFill>
                <a:latin typeface="Calibri"/>
              </a:rPr>
              <a:t>TRITON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511296"/>
            <a:ext cx="5349240" cy="34747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Ветвление по блокам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931920"/>
            <a:ext cx="5349240" cy="11430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Решение «считать блок или пропустить» принимается на весь блок сразу: так устроен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Triton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В чистом CUDA фильтр мог бы быть тоньше. Авторы прямо пишут, что CUDA-версия должна быть ещё быстрее.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200400"/>
            <a:ext cx="5669280" cy="201168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DD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3291840"/>
            <a:ext cx="5349240" cy="201168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D4880A"/>
                </a:solidFill>
                <a:latin typeface="Calibri"/>
              </a:rPr>
              <a:t>МАЛЕНЬКИЙ СЛОВАРЬ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511296"/>
            <a:ext cx="5349240" cy="34747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0" i="0">
                <a:solidFill>
                  <a:srgbClr val="1C1915"/>
                </a:solidFill>
                <a:latin typeface="Georgia"/>
              </a:rPr>
              <a:t>Память есть, скорость не всегда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931920"/>
            <a:ext cx="5349240" cy="11430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Если словарь маленький относительно скрытого размера, ядро CCE может быть медленнее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torch.compile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У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Phi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3.5 это около 12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мс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, на весь шаг — плюс 1–2%. Память всё равно меньше. Веса модели на 70B CCE не сжимает.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5879592"/>
            <a:ext cx="11521440" cy="475488"/>
          </a:xfrm>
          <a:prstGeom prst="roundRect">
            <a:avLst>
              <a:gd name="adj" fmla="val 8000"/>
            </a:avLst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4048" y="5879592"/>
            <a:ext cx="54864" cy="475488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5916168"/>
            <a:ext cx="11265408" cy="402336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Для </a:t>
            </a:r>
            <a:r>
              <a:rPr lang="ru-RU" sz="1300" b="0" i="0" dirty="0" err="1">
                <a:solidFill>
                  <a:srgbClr val="1C1915"/>
                </a:solidFill>
                <a:latin typeface="Calibri"/>
              </a:rPr>
              <a:t>дообучения</a:t>
            </a: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 берите обычный CCE. Для </a:t>
            </a:r>
            <a:r>
              <a:rPr lang="ru-RU" sz="1300" b="0" i="0" dirty="0" err="1">
                <a:solidFill>
                  <a:srgbClr val="1C1915"/>
                </a:solidFill>
                <a:latin typeface="Calibri"/>
              </a:rPr>
              <a:t>предобучения</a:t>
            </a: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 — вариант с </a:t>
            </a:r>
            <a:r>
              <a:rPr lang="ru-RU" sz="1300" b="0" i="0" dirty="0" err="1">
                <a:solidFill>
                  <a:srgbClr val="1C1915"/>
                </a:solidFill>
                <a:latin typeface="Calibri"/>
              </a:rPr>
              <a:t>Каханом</a:t>
            </a:r>
            <a:r>
              <a:rPr lang="ru-RU" sz="1300" b="0" i="0" dirty="0">
                <a:solidFill>
                  <a:srgbClr val="1C1915"/>
                </a:solidFill>
                <a:latin typeface="Calibri"/>
              </a:rPr>
              <a:t> и полным градиентом классификатора. Память выигрываете почти всегда, скорость — когда словарь большой.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039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39" y="0"/>
            <a:ext cx="2926079" cy="50292"/>
          </a:xfrm>
          <a:prstGeom prst="rect">
            <a:avLst/>
          </a:prstGeom>
          <a:solidFill>
            <a:srgbClr val="D48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485119" y="0"/>
            <a:ext cx="1706879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64592"/>
            <a:ext cx="658368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b="1" i="0">
                <a:solidFill>
                  <a:srgbClr val="C0392B"/>
                </a:solidFill>
                <a:latin typeface="Calibri"/>
              </a:rPr>
              <a:t>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"/>
            <a:ext cx="5029200" cy="256032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Cut Cross-Entropy · ICLR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02336"/>
            <a:ext cx="11338560" cy="475488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0" i="0">
                <a:solidFill>
                  <a:srgbClr val="1C1915"/>
                </a:solidFill>
                <a:latin typeface="Georgia"/>
              </a:rPr>
              <a:t>Три вещи с этого доклада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37744"/>
          </a:xfrm>
          <a:prstGeom prst="rect">
            <a:avLst/>
          </a:prstGeom>
          <a:noFill/>
        </p:spPr>
        <p:txBody>
          <a:bodyPr wrap="square" lIns="54864" tIns="18288" rIns="54864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100" b="0" i="0">
                <a:solidFill>
                  <a:srgbClr val="8A8276"/>
                </a:solidFill>
                <a:latin typeface="Calibri"/>
              </a:rPr>
              <a:t>15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51560"/>
            <a:ext cx="640080" cy="4114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600" b="0" i="0">
                <a:solidFill>
                  <a:srgbClr val="C0392B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051560"/>
            <a:ext cx="5760720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1" i="0" dirty="0">
                <a:solidFill>
                  <a:srgbClr val="1C1915"/>
                </a:solidFill>
                <a:latin typeface="Georgia"/>
              </a:rPr>
              <a:t>Узкое место — матрица </a:t>
            </a:r>
            <a:r>
              <a:rPr lang="ru-RU" sz="1800" b="1" i="0" dirty="0" err="1">
                <a:solidFill>
                  <a:srgbClr val="1C1915"/>
                </a:solidFill>
                <a:latin typeface="Georgia"/>
              </a:rPr>
              <a:t>логитов</a:t>
            </a:r>
            <a:endParaRPr lang="ru-RU" sz="1800" b="1" i="0" dirty="0">
              <a:solidFill>
                <a:srgbClr val="1C1915"/>
              </a:solidFill>
              <a:latin typeface="Georgi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1435607"/>
            <a:ext cx="5760720" cy="11887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После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checkpointing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,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ZeRO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и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FlashAttention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главный расход — матрица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логитов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. У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Gemma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2 2B это до 89% памяти обучения, а одна длинная последовательность способна занять всю карту. На генерации такой матрицы нет: нужен один следующий токен.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743200"/>
            <a:ext cx="640080" cy="4114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600" b="0" i="0">
                <a:solidFill>
                  <a:srgbClr val="C0392B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43200"/>
            <a:ext cx="5760720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1" i="0" dirty="0">
                <a:solidFill>
                  <a:srgbClr val="1C1915"/>
                </a:solidFill>
                <a:latin typeface="Georgia"/>
              </a:rPr>
              <a:t>Хранить её не нужно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5760720" cy="11887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i="0" dirty="0" err="1">
                <a:solidFill>
                  <a:srgbClr val="1C1915"/>
                </a:solidFill>
                <a:latin typeface="Calibri"/>
              </a:rPr>
              <a:t>Loss</a:t>
            </a:r>
            <a:r>
              <a:rPr lang="ru-RU" sz="1400" i="0" dirty="0">
                <a:solidFill>
                  <a:srgbClr val="1C1915"/>
                </a:solidFill>
                <a:latin typeface="Calibri"/>
              </a:rPr>
              <a:t> — это </a:t>
            </a:r>
            <a:r>
              <a:rPr lang="ru-RU" sz="1400" i="0" dirty="0" err="1">
                <a:solidFill>
                  <a:srgbClr val="1C1915"/>
                </a:solidFill>
                <a:latin typeface="Calibri"/>
              </a:rPr>
              <a:t>логит</a:t>
            </a:r>
            <a:r>
              <a:rPr lang="ru-RU" sz="1400" i="0" dirty="0">
                <a:solidFill>
                  <a:srgbClr val="1C1915"/>
                </a:solidFill>
                <a:latin typeface="Calibri"/>
              </a:rPr>
              <a:t> правильного слова минус </a:t>
            </a:r>
            <a:r>
              <a:rPr lang="ru-RU" sz="1400" i="0" dirty="0" err="1">
                <a:solidFill>
                  <a:srgbClr val="1C1915"/>
                </a:solidFill>
                <a:latin typeface="Calibri"/>
              </a:rPr>
              <a:t>log-sum-exp</a:t>
            </a:r>
            <a:r>
              <a:rPr lang="ru-RU" sz="1400" i="0" dirty="0">
                <a:solidFill>
                  <a:srgbClr val="1C1915"/>
                </a:solidFill>
                <a:latin typeface="Calibri"/>
              </a:rPr>
              <a:t> по словарю. Оба числа считаются кусками в SRAM. 24 ГБ превращаются в 1 МБ, по времени CCE остаётся рядом с самым быстрым </a:t>
            </a:r>
            <a:r>
              <a:rPr lang="ru-RU" sz="1400" i="0" dirty="0" err="1">
                <a:solidFill>
                  <a:srgbClr val="1C1915"/>
                </a:solidFill>
                <a:latin typeface="Calibri"/>
              </a:rPr>
              <a:t>baseline</a:t>
            </a:r>
            <a:r>
              <a:rPr lang="ru-RU" sz="1400" i="0" dirty="0">
                <a:solidFill>
                  <a:srgbClr val="1C1915"/>
                </a:solidFill>
                <a:latin typeface="Calibri"/>
              </a:rPr>
              <a:t>. Освободившуюся память отдают </a:t>
            </a:r>
            <a:r>
              <a:rPr lang="ru-RU" sz="1400" i="0" dirty="0" err="1">
                <a:solidFill>
                  <a:srgbClr val="1C1915"/>
                </a:solidFill>
                <a:latin typeface="Calibri"/>
              </a:rPr>
              <a:t>батчу</a:t>
            </a:r>
            <a:r>
              <a:rPr lang="ru-RU" sz="1400" i="0" dirty="0">
                <a:solidFill>
                  <a:srgbClr val="1C1915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434840"/>
            <a:ext cx="640080" cy="4114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600" b="0" i="0">
                <a:solidFill>
                  <a:srgbClr val="C0392B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5760720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800" b="1" i="0" dirty="0">
                <a:solidFill>
                  <a:srgbClr val="1C1915"/>
                </a:solidFill>
                <a:latin typeface="Georgia"/>
              </a:rPr>
              <a:t>Хвост </a:t>
            </a:r>
            <a:r>
              <a:rPr lang="ru-RU" sz="1800" b="1" i="0" dirty="0" err="1">
                <a:solidFill>
                  <a:srgbClr val="1C1915"/>
                </a:solidFill>
                <a:latin typeface="Georgia"/>
              </a:rPr>
              <a:t>softmax</a:t>
            </a:r>
            <a:r>
              <a:rPr lang="ru-RU" sz="1800" b="1" i="0" dirty="0">
                <a:solidFill>
                  <a:srgbClr val="1C1915"/>
                </a:solidFill>
                <a:latin typeface="Georgia"/>
              </a:rPr>
              <a:t> можно пропустить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18888"/>
            <a:ext cx="5760720" cy="11887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Почти все слова словаря несут вероятность ниже точности bf16. Их блок можно не дифференцировать: градиент быстрее примерно втрое, кривые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дообучения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не двигаются. На </a:t>
            </a:r>
            <a:r>
              <a:rPr lang="ru-RU" sz="1400" b="0" i="0" dirty="0" err="1">
                <a:solidFill>
                  <a:srgbClr val="1C1915"/>
                </a:solidFill>
                <a:latin typeface="Calibri"/>
              </a:rPr>
              <a:t>предобучении</a:t>
            </a:r>
            <a:r>
              <a:rPr lang="ru-RU" sz="1400" b="0" i="0" dirty="0">
                <a:solidFill>
                  <a:srgbClr val="1C1915"/>
                </a:solidFill>
                <a:latin typeface="Calibri"/>
              </a:rPr>
              <a:t> фильтр классификатора выключают и включают более точную сумму.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051560"/>
            <a:ext cx="4709160" cy="5074920"/>
          </a:xfrm>
          <a:prstGeom prst="roundRect">
            <a:avLst>
              <a:gd name="adj" fmla="val 6000"/>
            </a:avLst>
          </a:prstGeom>
          <a:solidFill>
            <a:srgbClr val="141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1207008"/>
            <a:ext cx="4343400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200" b="0" i="0">
                <a:solidFill>
                  <a:srgbClr val="FFFFFF"/>
                </a:solidFill>
                <a:latin typeface="Georgia"/>
              </a:rPr>
              <a:t>Источники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691640"/>
            <a:ext cx="4343400" cy="30175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1300" b="0" i="0">
                <a:solidFill>
                  <a:srgbClr val="E7DFD2"/>
                </a:solidFill>
                <a:latin typeface="Calibri"/>
              </a:rPr>
              <a:t>Wijmans et al. Cut Your Losses in Large-Vocabulary Language Models. ICLR 2025.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1300" b="0" i="0">
                <a:solidFill>
                  <a:srgbClr val="E7DFD2"/>
                </a:solidFill>
                <a:latin typeface="Calibri"/>
              </a:rPr>
              <a:t>Числа на слайдах — Table 1 и Table A4. Ядро мерили на A100 80 ГБ, PyTorch 2.4.1, CUDA 12.4, пять запусков.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1300" b="0" i="0">
                <a:solidFill>
                  <a:srgbClr val="E7DFD2"/>
                </a:solidFill>
                <a:latin typeface="Calibri"/>
              </a:rPr>
              <a:t>Код ставится вместо двух строк с логитами. Для дообучения хватает режима по умолчанию.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300" b="0" i="0">
                <a:solidFill>
                  <a:srgbClr val="E7DFD2"/>
                </a:solidFill>
                <a:latin typeface="Calibri"/>
              </a:rPr>
              <a:t>Предобучение — отдельный режим: суммирование Кахана и полный градиент классификатора.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5212080"/>
            <a:ext cx="4343400" cy="6858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ru-RU" sz="1400" b="0" i="0">
                <a:solidFill>
                  <a:srgbClr val="F0C27A"/>
                </a:solidFill>
                <a:latin typeface="Calibri"/>
                <a:hlinkClick r:id="rId3"/>
              </a:rPr>
              <a:t>arxiv.org/abs/2411.09009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400" b="0" i="0">
                <a:solidFill>
                  <a:srgbClr val="F0C27A"/>
                </a:solidFill>
                <a:latin typeface="Calibri"/>
                <a:hlinkClick r:id="rId4"/>
              </a:rPr>
              <a:t>github.com/apple/ml-cross-entropy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5615</Words>
  <Application>Microsoft Office PowerPoint</Application>
  <PresentationFormat>Широкоэкранный</PresentationFormat>
  <Paragraphs>357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Cut your losses в моделях с большим словарём</dc:title>
  <dc:subject>Cut Cross-Entropy, ICLR 2025</dc:subject>
  <dc:creator>Erik Wijmans, Brody Huval, Alexander Hertzberg, Vladlen Koltun, Philipp Krähenbühl</dc:creator>
  <cp:keywords/>
  <dc:description>generated using python-pptx</dc:description>
  <cp:lastModifiedBy>Юрьевич Кирилл</cp:lastModifiedBy>
  <cp:revision>3</cp:revision>
  <dcterms:created xsi:type="dcterms:W3CDTF">2013-01-27T09:14:16Z</dcterms:created>
  <dcterms:modified xsi:type="dcterms:W3CDTF">2026-10-04T16:18:33Z</dcterms:modified>
  <cp:category>Доклад</cp:category>
</cp:coreProperties>
</file>